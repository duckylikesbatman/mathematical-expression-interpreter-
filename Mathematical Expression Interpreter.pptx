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18872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Mathematical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Expression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Interpreter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2608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 browser-based interpreter that turns a small math language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into tokens, an AST, execution results, traces,</a:t>
            </a:r>
          </a:p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variables, and saved run history.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280160"/>
            <a:ext cx="5120640" cy="274320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20256" y="1389888"/>
            <a:ext cx="4864608" cy="2523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  <a:latin typeface="Courier New"/>
              </a:rPr>
              <a:t>x = 10;</a:t>
            </a:r>
          </a:p>
          <a:p>
            <a:pPr algn="l"/>
            <a:r>
              <a:rPr sz="1400" b="0">
                <a:solidFill>
                  <a:srgbClr val="4ADE80"/>
                </a:solidFill>
                <a:latin typeface="Courier New"/>
              </a:rPr>
              <a:t>y = x add 5;</a:t>
            </a:r>
          </a:p>
          <a:p>
            <a:pPr algn="l"/>
            <a:r>
              <a:rPr sz="1400" b="0">
                <a:solidFill>
                  <a:srgbClr val="4ADE80"/>
                </a:solidFill>
                <a:latin typeface="Courier New"/>
              </a:rPr>
              <a:t>print(y);</a:t>
            </a:r>
          </a:p>
          <a:p>
            <a:pPr algn="l"/>
            <a:r>
              <a:rPr sz="1400" b="0">
                <a:solidFill>
                  <a:srgbClr val="4ADE80"/>
                </a:solidFill>
                <a:latin typeface="Courier New"/>
              </a:rPr>
              <a:t/>
            </a:r>
          </a:p>
          <a:p>
            <a:pPr algn="l"/>
            <a:r>
              <a:rPr sz="1400" b="0">
                <a:solidFill>
                  <a:srgbClr val="4ADE80"/>
                </a:solidFill>
                <a:latin typeface="Courier New"/>
              </a:rPr>
              <a:t>→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full interpretation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From raw text to visible execution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2743200" cy="411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" y="1417320"/>
            <a:ext cx="2103120" cy="530352"/>
          </a:xfrm>
          <a:prstGeom prst="roundRect">
            <a:avLst>
              <a:gd name="adj" fmla="val 3000"/>
            </a:avLst>
          </a:prstGeom>
          <a:solidFill>
            <a:srgbClr val="3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274320" cy="274320"/>
          </a:xfrm>
          <a:prstGeom prst="roundRect">
            <a:avLst>
              <a:gd name="adj" fmla="val 3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996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Source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2148840"/>
            <a:ext cx="2103120" cy="402336"/>
          </a:xfrm>
          <a:prstGeom prst="roundRect">
            <a:avLst>
              <a:gd name="adj" fmla="val 3000"/>
            </a:avLst>
          </a:prstGeom>
          <a:solidFill>
            <a:srgbClr val="161C2D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User types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9736" y="1536192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417320"/>
            <a:ext cx="2103120" cy="530352"/>
          </a:xfrm>
          <a:prstGeom prst="roundRect">
            <a:avLst>
              <a:gd name="adj" fmla="val 3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97480" y="1508760"/>
            <a:ext cx="274320" cy="274320"/>
          </a:xfrm>
          <a:prstGeom prst="roundRect">
            <a:avLst>
              <a:gd name="adj" fmla="val 3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4996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50876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Lexer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33472" y="2148840"/>
            <a:ext cx="2103120" cy="402336"/>
          </a:xfrm>
          <a:prstGeom prst="roundRect">
            <a:avLst>
              <a:gd name="adj" fmla="val 3000"/>
            </a:avLst>
          </a:prstGeom>
          <a:solidFill>
            <a:srgbClr val="161C2D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Characters →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1536192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19472" y="1417320"/>
            <a:ext cx="2103120" cy="530352"/>
          </a:xfrm>
          <a:prstGeom prst="roundRect">
            <a:avLst>
              <a:gd name="adj" fmla="val 3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1508760"/>
            <a:ext cx="274320" cy="274320"/>
          </a:xfrm>
          <a:prstGeom prst="roundRect">
            <a:avLst>
              <a:gd name="adj" fmla="val 3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14996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150876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Parser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19472" y="2148840"/>
            <a:ext cx="2103120" cy="402336"/>
          </a:xfrm>
          <a:prstGeom prst="roundRect">
            <a:avLst>
              <a:gd name="adj" fmla="val 3000"/>
            </a:avLst>
          </a:prstGeom>
          <a:solidFill>
            <a:srgbClr val="161C2D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Tokens → 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1536192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05472" y="1417320"/>
            <a:ext cx="2103120" cy="530352"/>
          </a:xfrm>
          <a:prstGeom prst="roundRect">
            <a:avLst>
              <a:gd name="adj" fmla="val 3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69480" y="1508760"/>
            <a:ext cx="274320" cy="274320"/>
          </a:xfrm>
          <a:prstGeom prst="roundRect">
            <a:avLst>
              <a:gd name="adj" fmla="val 3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14996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150876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Evaluator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5472" y="2148840"/>
            <a:ext cx="2103120" cy="402336"/>
          </a:xfrm>
          <a:prstGeom prst="roundRect">
            <a:avLst>
              <a:gd name="adj" fmla="val 3000"/>
            </a:avLst>
          </a:prstGeom>
          <a:solidFill>
            <a:srgbClr val="161C2D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AST → values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1536192"/>
            <a:ext cx="128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91472" y="1417320"/>
            <a:ext cx="2103120" cy="530352"/>
          </a:xfrm>
          <a:prstGeom prst="roundRect">
            <a:avLst>
              <a:gd name="adj" fmla="val 3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555480" y="1508760"/>
            <a:ext cx="274320" cy="274320"/>
          </a:xfrm>
          <a:prstGeom prst="roundRect">
            <a:avLst>
              <a:gd name="adj" fmla="val 3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5480" y="14996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1508760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UI + DB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91472" y="2148840"/>
            <a:ext cx="2103120" cy="402336"/>
          </a:xfrm>
          <a:prstGeom prst="roundRect">
            <a:avLst>
              <a:gd name="adj" fmla="val 3000"/>
            </a:avLst>
          </a:prstGeom>
          <a:solidFill>
            <a:srgbClr val="161C2D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82912" y="22128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Display + store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" y="2816352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2926080"/>
            <a:ext cx="1755648" cy="1609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a = 10;</a:t>
            </a:r>
          </a:p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b = 3;</a:t>
            </a:r>
          </a:p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c = a mod b;</a:t>
            </a:r>
          </a:p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print(c);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24912" y="2816352"/>
            <a:ext cx="3054096" cy="182880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52928" y="2926080"/>
            <a:ext cx="2798064" cy="1609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6B6D4"/>
                </a:solidFill>
                <a:latin typeface="Courier New"/>
              </a:rPr>
              <a:t>IDENT EQUALS NUMBER SEMI</a:t>
            </a:r>
          </a:p>
          <a:p>
            <a:pPr algn="l"/>
            <a:r>
              <a:rPr sz="1000" b="0">
                <a:solidFill>
                  <a:srgbClr val="06B6D4"/>
                </a:solidFill>
                <a:latin typeface="Courier New"/>
              </a:rPr>
              <a:t>IDENT EQUALS NUMBER SEMI</a:t>
            </a:r>
          </a:p>
          <a:p>
            <a:pPr algn="l"/>
            <a:r>
              <a:rPr sz="1000" b="0">
                <a:solidFill>
                  <a:srgbClr val="06B6D4"/>
                </a:solidFill>
                <a:latin typeface="Courier New"/>
              </a:rPr>
              <a:t>IDENT EQUALS IDENT MOD IDENT SEMI</a:t>
            </a:r>
          </a:p>
          <a:p>
            <a:pPr algn="l"/>
            <a:r>
              <a:rPr sz="1000" b="0">
                <a:solidFill>
                  <a:srgbClr val="06B6D4"/>
                </a:solidFill>
                <a:latin typeface="Courier New"/>
              </a:rPr>
              <a:t>PRINT LPAREN IDENT RPAREN SEMI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2816352"/>
            <a:ext cx="2487168" cy="182880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08776" y="2926080"/>
            <a:ext cx="2231136" cy="1609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855F7"/>
                </a:solidFill>
                <a:latin typeface="Courier New"/>
              </a:rPr>
              <a:t>Program</a:t>
            </a:r>
          </a:p>
          <a:p>
            <a:pPr algn="l"/>
            <a:r>
              <a:rPr sz="1000" b="0">
                <a:solidFill>
                  <a:srgbClr val="A855F7"/>
                </a:solidFill>
                <a:latin typeface="Courier New"/>
              </a:rPr>
              <a:t>├ Assign(a)</a:t>
            </a:r>
          </a:p>
          <a:p>
            <a:pPr algn="l"/>
            <a:r>
              <a:rPr sz="1000" b="0">
                <a:solidFill>
                  <a:srgbClr val="A855F7"/>
                </a:solidFill>
                <a:latin typeface="Courier New"/>
              </a:rPr>
              <a:t>├ Assign(b)</a:t>
            </a:r>
          </a:p>
          <a:p>
            <a:pPr algn="l"/>
            <a:r>
              <a:rPr sz="1000" b="0">
                <a:solidFill>
                  <a:srgbClr val="A855F7"/>
                </a:solidFill>
                <a:latin typeface="Courier New"/>
              </a:rPr>
              <a:t>├ Assign(c)</a:t>
            </a:r>
          </a:p>
          <a:p>
            <a:pPr algn="l"/>
            <a:r>
              <a:rPr sz="1000" b="0">
                <a:solidFill>
                  <a:srgbClr val="A855F7"/>
                </a:solidFill>
                <a:latin typeface="Courier New"/>
              </a:rPr>
              <a:t>└ Print(c)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24544" y="2816352"/>
            <a:ext cx="2670048" cy="182880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2926080"/>
            <a:ext cx="2414016" cy="1609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  <a:latin typeface="Courier New"/>
              </a:rPr>
              <a:t>Output: 1</a:t>
            </a:r>
          </a:p>
          <a:p>
            <a:pPr algn="l"/>
            <a:r>
              <a:rPr sz="1000" b="0">
                <a:solidFill>
                  <a:srgbClr val="10B981"/>
                </a:solidFill>
                <a:latin typeface="Courier New"/>
              </a:rPr>
              <a:t>Symbol table:</a:t>
            </a:r>
          </a:p>
          <a:p>
            <a:pPr algn="l"/>
            <a:r>
              <a:rPr sz="1000" b="0">
                <a:solidFill>
                  <a:srgbClr val="10B981"/>
                </a:solidFill>
                <a:latin typeface="Courier New"/>
              </a:rPr>
              <a:t>a=10, b=3, c=1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Calibri"/>
              </a:rPr>
              <a:t>How the project is organised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Each file has one clear responsibility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2743200" cy="411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2011680" cy="475488"/>
          </a:xfrm>
          <a:prstGeom prst="roundRect">
            <a:avLst>
              <a:gd name="adj" fmla="val 3000"/>
            </a:avLst>
          </a:prstGeom>
          <a:solidFill>
            <a:srgbClr val="3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389888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index.html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298448"/>
            <a:ext cx="86410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24912" y="1389888"/>
            <a:ext cx="8403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Defines the page layout, panels, buttons, grammar display, database section, and SQL section.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10512"/>
            <a:ext cx="2011680" cy="475488"/>
          </a:xfrm>
          <a:prstGeom prst="roundRect">
            <a:avLst>
              <a:gd name="adj" fmla="val 3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1901952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style.css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810512"/>
            <a:ext cx="86410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24912" y="1901952"/>
            <a:ext cx="8403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Provides visual styling for the editor, token badges, AST view, trace, panels, and database UI.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22576"/>
            <a:ext cx="2011680" cy="475488"/>
          </a:xfrm>
          <a:prstGeom prst="roundRect">
            <a:avLst>
              <a:gd name="adj" fmla="val 3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14016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js/lexer.js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322576"/>
            <a:ext cx="86410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4912" y="2414016"/>
            <a:ext cx="8403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Tokenizer for the math language.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34640"/>
            <a:ext cx="2011680" cy="475488"/>
          </a:xfrm>
          <a:prstGeom prst="roundRect">
            <a:avLst>
              <a:gd name="adj" fmla="val 3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2926080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js/parser.js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06040" y="2834640"/>
            <a:ext cx="86410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4912" y="2926080"/>
            <a:ext cx="8403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Recursive-descent parser and AST node definitions.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46704"/>
            <a:ext cx="2011680" cy="475488"/>
          </a:xfrm>
          <a:prstGeom prst="roundRect">
            <a:avLst>
              <a:gd name="adj" fmla="val 3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438144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js/evaluator.js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3346704"/>
            <a:ext cx="86410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24912" y="3438144"/>
            <a:ext cx="8403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Tree-walking evaluator, symbol table, trace, prints, and runtime errors.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58768"/>
            <a:ext cx="2011680" cy="475488"/>
          </a:xfrm>
          <a:prstGeom prst="roundRect">
            <a:avLst>
              <a:gd name="adj" fmla="val 3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3950208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js/main.js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40" y="3858768"/>
            <a:ext cx="86410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24912" y="3950208"/>
            <a:ext cx="8403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UI wiring, examples, Run mode, Step mode, output rendering, and database logging.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70832"/>
            <a:ext cx="2011680" cy="475488"/>
          </a:xfrm>
          <a:prstGeom prst="roundRect">
            <a:avLst>
              <a:gd name="adj" fmla="val 3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" y="4462272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js/database.js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06040" y="4370832"/>
            <a:ext cx="86410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24912" y="4462272"/>
            <a:ext cx="8403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sql.js database setup, programs table, runs table, save/load/delete, run history.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82896"/>
            <a:ext cx="2011680" cy="475488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" y="4974336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js/sql_*.js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06040" y="4882896"/>
            <a:ext cx="864108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24912" y="4974336"/>
            <a:ext cx="84033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Lexer, parser, and evaluator for the SQL subset.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855F7"/>
                </a:solidFill>
                <a:latin typeface="Calibri"/>
              </a:rPr>
              <a:t>Design principle: separate the interpreter core from the UI so each stage is easier to explain, test, and debug.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Calibri"/>
              </a:rPr>
              <a:t>Designing the mini-language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Small vocabulary, clear grammar, predictable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2743200" cy="411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1298448"/>
            <a:ext cx="2651760" cy="384048"/>
          </a:xfrm>
          <a:prstGeom prst="rect">
            <a:avLst/>
          </a:prstGeom>
          <a:solidFill>
            <a:srgbClr val="3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362456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Variables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82496"/>
            <a:ext cx="26517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773936"/>
            <a:ext cx="24323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Assignment uses a simple pattern: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name = expression;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Example: total = total add i;</a:t>
            </a:r>
          </a:p>
        </p:txBody>
      </p:sp>
      <p:sp>
        <p:nvSpPr>
          <p:cNvPr id="9" name="Rectangle 8"/>
          <p:cNvSpPr/>
          <p:nvPr/>
        </p:nvSpPr>
        <p:spPr>
          <a:xfrm>
            <a:off x="3236976" y="1298448"/>
            <a:ext cx="265176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704" y="1362456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Operators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6976" y="1682496"/>
            <a:ext cx="26517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4" y="1773936"/>
            <a:ext cx="24323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add  sub  mult  div  mod  pow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Comparisons: gt  lt  eq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Comparisons return 1 or 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1298448"/>
            <a:ext cx="2651760" cy="3840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362456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Functions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682496"/>
            <a:ext cx="26517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773936"/>
            <a:ext cx="24323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Built-ins parsed like function calls: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sqrt(expr)  abs(expr)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floor(expr) / ceil(expr)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2832" y="1298448"/>
            <a:ext cx="26517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362456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Control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42832" y="1682496"/>
            <a:ext cx="26517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773936"/>
            <a:ext cx="24323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if(condition){...}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while(condition){...}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for(i = start to end){...}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47872"/>
            <a:ext cx="5943600" cy="210312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3657600"/>
            <a:ext cx="5687568" cy="1883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program    → statement* EOF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statement  → IDENT '=' expr ';'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           | 'print' '(' expr ')' ';'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           | 'if'    '(' expr ')' '{' statement* '}'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           | 'while' '(' expr ')' '{' statement* '}'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           | 'for'   '(' IDENT '=' expr 'to' expr ')' '{' statement* '}'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547872"/>
            <a:ext cx="5029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Why keyword operators?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233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Using words like add and mult makes tokenisation easier and makes the grammar very readable for a beginner interpreter.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Calibri"/>
              </a:rPr>
              <a:t>Step 1: Lexical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How lexer.js turns characters into tokens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2743200" cy="411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4864608" cy="2066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while (this.ch !== null) {</a:t>
            </a:r>
          </a:p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  this.skipWS();</a:t>
            </a:r>
          </a:p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  if (/\d/.test(c))</a:t>
            </a:r>
          </a:p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    tokens.push(this.readNumber());</a:t>
            </a:r>
          </a:p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  else if (/[A-Za-z_]/.test(c))</a:t>
            </a:r>
          </a:p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    tokens.push(this.readIdent());</a:t>
            </a:r>
          </a:p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  else if (c === '=') tokens.push(EQUALS);</a:t>
            </a:r>
          </a:p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  else if (c === ';') tokens.push(SEMI);</a:t>
            </a:r>
          </a:p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  else throw 'Unexpected character';</a:t>
            </a:r>
          </a:p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}</a:t>
            </a:r>
          </a:p>
          <a:p>
            <a:pPr algn="l"/>
            <a:r>
              <a:rPr sz="1000" b="0">
                <a:solidFill>
                  <a:srgbClr val="4ADE80"/>
                </a:solidFill>
                <a:latin typeface="Courier New"/>
              </a:rPr>
              <a:t>tokens.push(EOF);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298448"/>
            <a:ext cx="283464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1888" y="1362456"/>
            <a:ext cx="2615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What it scans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682496"/>
            <a:ext cx="2834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888" y="1773936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Numbers, decimals, identifiers,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keywords, punctuation,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parentheses, braces, semicolons.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298448"/>
            <a:ext cx="283464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1362456"/>
            <a:ext cx="26151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What it ignores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682496"/>
            <a:ext cx="2834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1773936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Whitespace and comments.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# starts a comment — everything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skipped to end of 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673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Example tokenisation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87952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4297680"/>
            <a:ext cx="10991088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  <a:latin typeface="Courier New"/>
              </a:rPr>
              <a:t>total = total add i;</a:t>
            </a:r>
          </a:p>
          <a:p>
            <a:pPr algn="l"/>
            <a:r>
              <a:rPr sz="1100" b="0">
                <a:solidFill>
                  <a:srgbClr val="06B6D4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06B6D4"/>
                </a:solidFill>
                <a:latin typeface="Courier New"/>
              </a:rPr>
              <a:t>IDENT(total)  EQUALS(=)  IDENT(total)  ADD(add)  IDENT(i)  SEMI(;)  EOF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2180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Important design choice: keywords are recognised inside readIdent(). If the word is add, while, print, sqrt, etc., it becomes a reserved token type instead of a variable name.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Calibri"/>
              </a:rPr>
              <a:t>Step 2: Syntactic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How parser.js builds the Abstract Syntax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2743200" cy="411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1353312"/>
            <a:ext cx="1444752" cy="402336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0817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353312"/>
            <a:ext cx="1444752" cy="402336"/>
          </a:xfrm>
          <a:prstGeom prst="roundRect">
            <a:avLst>
              <a:gd name="adj" fmla="val 4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40817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353312"/>
            <a:ext cx="1444752" cy="402336"/>
          </a:xfrm>
          <a:prstGeom prst="roundRect">
            <a:avLst>
              <a:gd name="adj" fmla="val 4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40817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1353312"/>
            <a:ext cx="1444752" cy="402336"/>
          </a:xfrm>
          <a:prstGeom prst="roundRect">
            <a:avLst>
              <a:gd name="adj" fmla="val 4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92624" y="140817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addExpr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8816" y="1353312"/>
            <a:ext cx="1444752" cy="402336"/>
          </a:xfrm>
          <a:prstGeom prst="roundRect">
            <a:avLst>
              <a:gd name="adj" fmla="val 4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140817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353312"/>
            <a:ext cx="1444752" cy="402336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40817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statement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353312"/>
            <a:ext cx="1444752" cy="402336"/>
          </a:xfrm>
          <a:prstGeom prst="roundRect">
            <a:avLst>
              <a:gd name="adj" fmla="val 4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40817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</a:rPr>
              <a:t>Recursive descent parser: each grammar rule becomes a function.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423160"/>
            <a:ext cx="5394960" cy="192024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532888"/>
            <a:ext cx="5138928" cy="1700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Courier New"/>
              </a:rPr>
              <a:t>factor  → NUMBER | IDENT | '(' expr ')' | '-' factor | builtin(expr)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Courier New"/>
              </a:rPr>
              <a:t>power   → factor ( 'pow' factor )?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Courier New"/>
              </a:rPr>
              <a:t>term    → power  ( 'mult' | 'div' | 'mod' ) power*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Courier New"/>
              </a:rPr>
              <a:t>addExpr → term   ( 'add'  | 'sub' ) term*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Courier New"/>
              </a:rPr>
              <a:t>expr    → addExpr ( 'gt' | 'lt' | 'eq' ) addExpr?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42316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52374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AST node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44368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NumberNode  •  IdentNode  •  UnaryNode  •  BinOpNode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BuiltinNode  •  AssignNode  •  PrintNode  •  IfNode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WhileNode  •  ForNode  •  ProgramNode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26280"/>
            <a:ext cx="1124712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445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Error recovery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10328"/>
            <a:ext cx="112471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99262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When parsing fails, the parser records the error, skips forward to a safe point like ; or }, and continues parsing later statements.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Calibri"/>
              </a:rPr>
              <a:t>What the AST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The program becomes a structured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2743200" cy="411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4297680" cy="512064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404164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ADE80"/>
                </a:solidFill>
                <a:latin typeface="Courier New"/>
              </a:rPr>
              <a:t>result = (a add b) mult sqrt(16);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Why trees help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4297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The tree tells the evaluator the correct order. The root is assignment. Its expression is multiplication. The left side is addition, and the right side is a built-in function call.</a:t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This is why parentheses and precedence are preserved without evaluating too 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55F7"/>
                </a:solidFill>
                <a:latin typeface="Calibri"/>
              </a:rPr>
              <a:t>Parentheses and precedence are preserved without evaluating too early.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6740" y="1325880"/>
            <a:ext cx="1143000" cy="365760"/>
          </a:xfrm>
          <a:prstGeom prst="roundRect">
            <a:avLst>
              <a:gd name="adj" fmla="val 4000"/>
            </a:avLst>
          </a:prstGeom>
          <a:solidFill>
            <a:srgbClr val="3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2460" y="137160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Assign(result)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89420" y="2331720"/>
            <a:ext cx="1143000" cy="365760"/>
          </a:xfrm>
          <a:prstGeom prst="roundRect">
            <a:avLst>
              <a:gd name="adj" fmla="val 4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5140" y="237744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24060" y="2331720"/>
            <a:ext cx="1143000" cy="365760"/>
          </a:xfrm>
          <a:prstGeom prst="roundRect">
            <a:avLst>
              <a:gd name="adj" fmla="val 4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69780" y="237744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sqrt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5020" y="3337560"/>
            <a:ext cx="1143000" cy="36576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0740" y="33832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24060" y="3337560"/>
            <a:ext cx="1143000" cy="365760"/>
          </a:xfrm>
          <a:prstGeom prst="roundRect">
            <a:avLst>
              <a:gd name="adj" fmla="val 4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9780" y="338328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89220" y="4343400"/>
            <a:ext cx="1143000" cy="365760"/>
          </a:xfrm>
          <a:prstGeom prst="roundRect">
            <a:avLst>
              <a:gd name="adj" fmla="val 4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4940" y="438912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0820" y="4343400"/>
            <a:ext cx="1143000" cy="365760"/>
          </a:xfrm>
          <a:prstGeom prst="roundRect">
            <a:avLst>
              <a:gd name="adj" fmla="val 4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6540" y="438912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360920" y="1691640"/>
            <a:ext cx="1417320" cy="64008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78240" y="1691640"/>
            <a:ext cx="1417320" cy="64008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446520" y="2697480"/>
            <a:ext cx="914400" cy="64008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195560" y="2697480"/>
            <a:ext cx="0" cy="64008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760720" y="3703320"/>
            <a:ext cx="685800" cy="64008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446520" y="3703320"/>
            <a:ext cx="685800" cy="640080"/>
          </a:xfrm>
          <a:prstGeom prst="line">
            <a:avLst/>
          </a:prstGeom>
          <a:ln w="1905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Calibri"/>
              </a:rPr>
              <a:t>Step 3: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How evaluator.js executes the 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2743200" cy="411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1298448"/>
            <a:ext cx="333756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362456"/>
            <a:ext cx="3118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Tree walking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82496"/>
            <a:ext cx="33375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773936"/>
            <a:ext cx="31181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The evaluator uses a switch on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node.type. Each node evaluates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itself or its children recursively.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50208" y="1298448"/>
            <a:ext cx="333756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9936" y="1362456"/>
            <a:ext cx="3118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Symbol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0208" y="1682496"/>
            <a:ext cx="33375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936" y="1773936"/>
            <a:ext cx="31181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Assigned variables are stored in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env — an object mapping variable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names to numbers.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8" y="1298448"/>
            <a:ext cx="3337560" cy="3840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1362456"/>
            <a:ext cx="3118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Trace +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6368" y="1682496"/>
            <a:ext cx="33375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1773936"/>
            <a:ext cx="31181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Every reduction is logged in trace.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print() pushes formatted values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into prints.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20440"/>
            <a:ext cx="5394960" cy="178308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3630168"/>
            <a:ext cx="5138928" cy="1563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case 'BinOp':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l = eval(left)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r = eval(right)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if op == 'add' → l + r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if op == 'div' and r == 0 → error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  log: 'l op r = result'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520440"/>
            <a:ext cx="539496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6210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Evaluation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059936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ourier New"/>
              </a:rPr>
              <a:t>env = { a: 10, b: 3, c: 1 }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Courier New"/>
              </a:rPr>
              <a:t>prints = ["1"]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Courier New"/>
              </a:rPr>
              <a:t>trace = detailed execution log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Courier New"/>
              </a:rPr>
              <a:t>errors = runtime problems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F4444"/>
                </a:solidFill>
                <a:latin typeface="Calibri"/>
              </a:rPr>
              <a:t>Key safety checks: undefined variables, division by zero, modulo by zero, and loop iteration limits.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Calibri"/>
              </a:rPr>
              <a:t>Control flow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How if, while, and for were handled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2743200" cy="411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1298448"/>
            <a:ext cx="3337560" cy="384048"/>
          </a:xfrm>
          <a:prstGeom prst="rect">
            <a:avLst/>
          </a:prstGeom>
          <a:solidFill>
            <a:srgbClr val="3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362456"/>
            <a:ext cx="3118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if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82496"/>
            <a:ext cx="33375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773936"/>
            <a:ext cx="31181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Evaluate condition.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If result ≠ 0, execute the body.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If result = 0, skip the body.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50208" y="1298448"/>
            <a:ext cx="333756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9936" y="1362456"/>
            <a:ext cx="3118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while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0208" y="1682496"/>
            <a:ext cx="33375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936" y="1773936"/>
            <a:ext cx="31181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Evaluate condition before every iteration.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Stop when it becomes 0.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Guard: max 10 000 iterations.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8" y="1298448"/>
            <a:ext cx="33375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1362456"/>
            <a:ext cx="3118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for loop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6368" y="1682496"/>
            <a:ext cx="333756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1773936"/>
            <a:ext cx="31181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Evaluate start and end.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Assign the loop variable each iteration.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Run body while i ≤ 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20440"/>
            <a:ext cx="4206240" cy="192024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3630168"/>
            <a:ext cx="3950208" cy="1700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ADE80"/>
                </a:solidFill>
                <a:latin typeface="Courier New"/>
              </a:rPr>
              <a:t>total = 0;</a:t>
            </a:r>
          </a:p>
          <a:p>
            <a:pPr algn="l"/>
            <a:r>
              <a:rPr sz="1200" b="0">
                <a:solidFill>
                  <a:srgbClr val="4ADE80"/>
                </a:solidFill>
                <a:latin typeface="Courier New"/>
              </a:rPr>
              <a:t>for (i = 1 to 5) {</a:t>
            </a:r>
          </a:p>
          <a:p>
            <a:pPr algn="l"/>
            <a:r>
              <a:rPr sz="1200" b="0">
                <a:solidFill>
                  <a:srgbClr val="4ADE80"/>
                </a:solidFill>
                <a:latin typeface="Courier New"/>
              </a:rPr>
              <a:t>  total = total add i;</a:t>
            </a:r>
          </a:p>
          <a:p>
            <a:pPr algn="l"/>
            <a:r>
              <a:rPr sz="1200" b="0">
                <a:solidFill>
                  <a:srgbClr val="4ADE80"/>
                </a:solidFill>
                <a:latin typeface="Courier New"/>
              </a:rPr>
              <a:t>}</a:t>
            </a:r>
          </a:p>
          <a:p>
            <a:pPr algn="l"/>
            <a:r>
              <a:rPr sz="1200" b="0">
                <a:solidFill>
                  <a:srgbClr val="4ADE80"/>
                </a:solidFill>
                <a:latin typeface="Courier New"/>
              </a:rPr>
              <a:t>print(total);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520440"/>
            <a:ext cx="3977639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621024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Execution meaning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059936"/>
            <a:ext cx="3703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i becomes 1, 2, 3, 4, 5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Each time, total is updated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Final total is 15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print displays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520440"/>
            <a:ext cx="2633472" cy="192024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840480"/>
            <a:ext cx="24505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2400E"/>
                </a:solidFill>
                <a:latin typeface="Calibri"/>
              </a:rPr>
              <a:t>Condition rule:</a:t>
            </a:r>
          </a:p>
          <a:p>
            <a:pPr algn="ctr"/>
            <a:r>
              <a:rPr sz="1300" b="1">
                <a:solidFill>
                  <a:srgbClr val="92400E"/>
                </a:solidFill>
                <a:latin typeface="Calibri"/>
              </a:rPr>
              <a:t>0 = false</a:t>
            </a:r>
          </a:p>
          <a:p>
            <a:pPr algn="ctr"/>
            <a:r>
              <a:rPr sz="1300" b="1">
                <a:solidFill>
                  <a:srgbClr val="92400E"/>
                </a:solidFill>
                <a:latin typeface="Calibri"/>
              </a:rPr>
              <a:t>anything else = true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Calibri"/>
              </a:rPr>
              <a:t>User interface + step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Making the invisible pipeline visible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2743200" cy="411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1298448"/>
            <a:ext cx="2651760" cy="384048"/>
          </a:xfrm>
          <a:prstGeom prst="rect">
            <a:avLst/>
          </a:prstGeom>
          <a:solidFill>
            <a:srgbClr val="3B6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362456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Input editor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82496"/>
            <a:ext cx="26517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773936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User writes code or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loads an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298448"/>
            <a:ext cx="265176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4136" y="1362456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Token 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682496"/>
            <a:ext cx="26517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773936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Shows raw lexer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298448"/>
            <a:ext cx="265176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362456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AST 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1682496"/>
            <a:ext cx="26517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773936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Text tree or visual SVG tree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5128" y="1298448"/>
            <a:ext cx="2651760" cy="3840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1362456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Trace + vars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5128" y="1682496"/>
            <a:ext cx="265176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1773936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Shows execution and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live symbol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27248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3697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Run mode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3127248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323697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Step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694176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Runs the full program at once, then displays tokens, AST, trace, output, result, variables, and database log.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3694176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Executes one statement at a time. Before each step, that statement is re-tokenised and re-parsed so the user can inspect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0235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A855F7"/>
                </a:solidFill>
                <a:latin typeface="Calibri"/>
              </a:rPr>
              <a:t>Teaching value: the app behaves like a debugger for the interpreter pipeline.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Calibri"/>
              </a:rPr>
              <a:t>Database + SQL interpreter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Persisting programs and querying run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274320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4480560" cy="182880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4224528" cy="1609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ourier New"/>
              </a:rPr>
              <a:t>TABLE programs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urier New"/>
              </a:rPr>
              <a:t>  id, name, code, saved_at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urier New"/>
              </a:rPr>
              <a:t/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urier New"/>
              </a:rPr>
              <a:t>TABLE runs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urier New"/>
              </a:rPr>
              <a:t>  id, code, result,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Courier New"/>
              </a:rPr>
              <a:t>  var_count, had_errors, ran_at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298448"/>
            <a:ext cx="65653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21808" y="1719072"/>
            <a:ext cx="625449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</a:rPr>
              <a:t>sql.js lets SQLite run entirely inside the browser.</a:t>
            </a:r>
          </a:p>
          <a:p>
            <a:pPr algn="ctr"/>
            <a:r>
              <a:rPr sz="1600" b="1">
                <a:solidFill>
                  <a:srgbClr val="1E293B"/>
                </a:solidFill>
                <a:latin typeface="Calibri"/>
              </a:rPr>
              <a:t>No backend server is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3337560"/>
            <a:ext cx="265176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3401568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SQL Lexer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721608"/>
            <a:ext cx="26517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3813048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Query text → SQL tokens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3337560"/>
            <a:ext cx="265176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3401568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SQL Parser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3721608"/>
            <a:ext cx="26517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3813048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Tokens → Select 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3337560"/>
            <a:ext cx="2651760" cy="3840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3401568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SQL Evaluator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3721608"/>
            <a:ext cx="26517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3813048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AST → table rows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5128" y="3337560"/>
            <a:ext cx="26517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3401568"/>
            <a:ext cx="2432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Results 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25128" y="3721608"/>
            <a:ext cx="265176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3813048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Rows displayed in UI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36592"/>
            <a:ext cx="4480560" cy="150876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4846320"/>
            <a:ext cx="4224528" cy="128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SELECT id, code, result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FROM runs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WHERE had_errors = 0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ORDER BY ran_at DESC</a:t>
            </a:r>
          </a:p>
          <a:p>
            <a:pPr algn="l"/>
            <a:r>
              <a:rPr sz="1100" b="0">
                <a:solidFill>
                  <a:srgbClr val="4ADE80"/>
                </a:solidFill>
                <a:latin typeface="Courier New"/>
              </a:rPr>
              <a:t>LIMIT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956048"/>
            <a:ext cx="65653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Supported SQL subset: SELECT, FROM, WHERE with AND,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ORDER BY ASC/DESC, LIMIT, and comparison operators.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Calibri"/>
              </a:rPr>
              <a:t>Error handling and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How the project explains problems instead of crashing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2743200" cy="411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4048" y="1298448"/>
            <a:ext cx="333756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362456"/>
            <a:ext cx="3118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Lexer errors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82496"/>
            <a:ext cx="333756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773936"/>
            <a:ext cx="31181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Unexpected characters are caught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early and linked to a source column.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50208" y="1298448"/>
            <a:ext cx="3337560" cy="3840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9936" y="1362456"/>
            <a:ext cx="3118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Parser errors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0208" y="1682496"/>
            <a:ext cx="333756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936" y="1773936"/>
            <a:ext cx="31181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Invalid syntax is recorded.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Parser skips to ; or } and continues.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8" y="1298448"/>
            <a:ext cx="333756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1362456"/>
            <a:ext cx="3118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Runtime errors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6368" y="1682496"/>
            <a:ext cx="333756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1773936"/>
            <a:ext cx="31181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Undefined variables, division by zero,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modulo by zero, runaway loops reported.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4206240" cy="160020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3355848"/>
            <a:ext cx="3950208" cy="1380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ADE80"/>
                </a:solidFill>
                <a:latin typeface="Courier New"/>
              </a:rPr>
              <a:t>aa = 4;</a:t>
            </a:r>
          </a:p>
          <a:p>
            <a:pPr algn="l"/>
            <a:r>
              <a:rPr sz="1300" b="0">
                <a:solidFill>
                  <a:srgbClr val="4ADE80"/>
                </a:solidFill>
                <a:latin typeface="Courier New"/>
              </a:rPr>
              <a:t>b = ghost add 1;</a:t>
            </a:r>
          </a:p>
          <a:p>
            <a:pPr algn="l"/>
            <a:r>
              <a:rPr sz="1300" b="0">
                <a:solidFill>
                  <a:srgbClr val="4ADE80"/>
                </a:solidFill>
                <a:latin typeface="Courier New"/>
              </a:rPr>
              <a:t>d = aa div 0;</a:t>
            </a:r>
          </a:p>
          <a:p>
            <a:pPr algn="l"/>
            <a:r>
              <a:rPr sz="1300" b="0">
                <a:solidFill>
                  <a:srgbClr val="4ADE80"/>
                </a:solidFill>
                <a:latin typeface="Courier New"/>
              </a:rPr>
              <a:t>e = aa add 2;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246120"/>
            <a:ext cx="683971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364992"/>
            <a:ext cx="6565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Instead of stopping at the first runtime error, program evaluation catches errors per statement and keeps going when possible.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059936"/>
            <a:ext cx="6565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55F7"/>
                </a:solidFill>
                <a:latin typeface="Calibri"/>
              </a:rPr>
              <a:t>This creates a better learning tool because multiple mistakes can be shown in one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Example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One small program through all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2743200" cy="411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3931920" cy="2423160"/>
          </a:xfrm>
          <a:prstGeom prst="roundRect">
            <a:avLst>
              <a:gd name="adj" fmla="val 5000"/>
            </a:avLst>
          </a:prstGeom>
          <a:solidFill>
            <a:srgbClr val="0A0E1A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408176"/>
            <a:ext cx="3675888" cy="2203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ADE80"/>
                </a:solidFill>
                <a:latin typeface="Courier New"/>
              </a:rPr>
              <a:t>n = 5;</a:t>
            </a:r>
          </a:p>
          <a:p>
            <a:pPr algn="l"/>
            <a:r>
              <a:rPr sz="1300" b="0">
                <a:solidFill>
                  <a:srgbClr val="4ADE80"/>
                </a:solidFill>
                <a:latin typeface="Courier New"/>
              </a:rPr>
              <a:t>result = 1;</a:t>
            </a:r>
          </a:p>
          <a:p>
            <a:pPr algn="l"/>
            <a:r>
              <a:rPr sz="1300" b="0">
                <a:solidFill>
                  <a:srgbClr val="4ADE80"/>
                </a:solidFill>
                <a:latin typeface="Courier New"/>
              </a:rPr>
              <a:t>for (i = 2 to n) {</a:t>
            </a:r>
          </a:p>
          <a:p>
            <a:pPr algn="l"/>
            <a:r>
              <a:rPr sz="1300" b="0">
                <a:solidFill>
                  <a:srgbClr val="4ADE80"/>
                </a:solidFill>
                <a:latin typeface="Courier New"/>
              </a:rPr>
              <a:t>  result = result mult i;</a:t>
            </a:r>
          </a:p>
          <a:p>
            <a:pPr algn="l"/>
            <a:r>
              <a:rPr sz="1300" b="0">
                <a:solidFill>
                  <a:srgbClr val="4ADE80"/>
                </a:solidFill>
                <a:latin typeface="Courier New"/>
              </a:rPr>
              <a:t>}</a:t>
            </a:r>
          </a:p>
          <a:p>
            <a:pPr algn="l"/>
            <a:r>
              <a:rPr sz="1300" b="0">
                <a:solidFill>
                  <a:srgbClr val="4ADE80"/>
                </a:solidFill>
                <a:latin typeface="Courier New"/>
              </a:rPr>
              <a:t>print(result);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298448"/>
            <a:ext cx="1325880" cy="384048"/>
          </a:xfrm>
          <a:prstGeom prst="roundRect">
            <a:avLst>
              <a:gd name="adj" fmla="val 3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35331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Lex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36245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Keywords and identifiers become tokens.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65376"/>
            <a:ext cx="1325880" cy="384048"/>
          </a:xfrm>
          <a:prstGeom prst="roundRect">
            <a:avLst>
              <a:gd name="adj" fmla="val 3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9293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The for loop becomes a ForNode with start, end, and body.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432304"/>
            <a:ext cx="1325880" cy="384048"/>
          </a:xfrm>
          <a:prstGeom prst="roundRect">
            <a:avLst>
              <a:gd name="adj" fmla="val 3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48716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49631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result is multiplied by each i from 2 to 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2999232"/>
            <a:ext cx="1325880" cy="384048"/>
          </a:xfrm>
          <a:prstGeom prst="roundRect">
            <a:avLst>
              <a:gd name="adj" fmla="val 3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05409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4. 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0632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The final value is pushed into prints.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3566160"/>
            <a:ext cx="1325880" cy="384048"/>
          </a:xfrm>
          <a:prstGeom prst="roundRect">
            <a:avLst>
              <a:gd name="adj" fmla="val 3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621024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5. 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63016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The run is logged in the SQLite runs 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50208"/>
            <a:ext cx="3931920" cy="713232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95928"/>
            <a:ext cx="3931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293B"/>
                </a:solidFill>
                <a:latin typeface="Calibri"/>
              </a:rPr>
              <a:t>Output: 120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09744"/>
            <a:ext cx="3931920" cy="594360"/>
          </a:xfrm>
          <a:prstGeom prst="roundRect">
            <a:avLst>
              <a:gd name="adj" fmla="val 4000"/>
            </a:avLst>
          </a:prstGeom>
          <a:solidFill>
            <a:srgbClr val="161C2D"/>
          </a:solidFill>
          <a:ln w="9525"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88289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ourier New"/>
              </a:rPr>
              <a:t>Symbol table: n=5, result=120, i=5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What we built and what we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2743200" cy="411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We built a complete educational interpreter: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 custom math language  →  tokens  →  AST  →  evaluation  →  visible trace  →  stored run history.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423160"/>
            <a:ext cx="333756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2487168"/>
            <a:ext cx="3118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Main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807208"/>
            <a:ext cx="333756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2898648"/>
            <a:ext cx="31181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Interpreters are pipelines.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Each stage transforms the program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into a more useful representation.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0208" y="2423160"/>
            <a:ext cx="333756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936" y="2487168"/>
            <a:ext cx="3118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Strong 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0208" y="2807208"/>
            <a:ext cx="333756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9936" y="2898648"/>
            <a:ext cx="31181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The project is transparent: users can see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tokens, AST, trace, variables,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output, errors, and database history.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6368" y="2423160"/>
            <a:ext cx="3337560" cy="3840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2487168"/>
            <a:ext cx="3118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Possible upgrades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6368" y="2807208"/>
            <a:ext cx="333756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2898648"/>
            <a:ext cx="31181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1E293B"/>
                </a:solidFill>
                <a:latin typeface="Calibri"/>
              </a:rPr>
              <a:t>Add user-defined functions, else blocks,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arrays, better error highlighting,</a:t>
            </a:r>
          </a:p>
          <a:p>
            <a:r>
              <a:rPr sz="1150">
                <a:solidFill>
                  <a:srgbClr val="1E293B"/>
                </a:solidFill>
                <a:latin typeface="Calibri"/>
              </a:rPr>
              <a:t>and exporting run history.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434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Calibri"/>
              </a:rPr>
              <a:t>Final message: the project turns interpreter theory into something visual, interactive, and easy to demonstrate.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