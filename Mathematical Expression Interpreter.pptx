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52"/>
    <p:restoredTop sz="94668"/>
  </p:normalViewPr>
  <p:slideViewPr>
    <p:cSldViewPr snapToGrid="0" snapToObjects="1">
      <p:cViewPr varScale="1">
        <p:scale>
          <a:sx n="119" d="100"/>
          <a:sy n="119" d="100"/>
        </p:scale>
        <p:origin x="216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L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5A1E1C-4714-D149-AF86-D53D54FFA3FC}" type="datetimeFigureOut">
              <a:rPr lang="en-LB" smtClean="0"/>
              <a:t>30/04/2026</a:t>
            </a:fld>
            <a:endParaRPr lang="en-L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L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L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739E64-53F5-0C42-9BB3-024710A97A52}" type="slidenum">
              <a:rPr lang="en-LB" smtClean="0"/>
              <a:t>‹#›</a:t>
            </a:fld>
            <a:endParaRPr lang="en-LB"/>
          </a:p>
        </p:txBody>
      </p:sp>
    </p:spTree>
    <p:extLst>
      <p:ext uri="{BB962C8B-B14F-4D97-AF65-F5344CB8AC3E}">
        <p14:creationId xmlns:p14="http://schemas.microsoft.com/office/powerpoint/2010/main" val="2285200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LB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739E64-53F5-0C42-9BB3-024710A97A52}" type="slidenum">
              <a:rPr lang="en-LB" smtClean="0"/>
              <a:t>9</a:t>
            </a:fld>
            <a:endParaRPr lang="en-LB"/>
          </a:p>
        </p:txBody>
      </p:sp>
    </p:spTree>
    <p:extLst>
      <p:ext uri="{BB962C8B-B14F-4D97-AF65-F5344CB8AC3E}">
        <p14:creationId xmlns:p14="http://schemas.microsoft.com/office/powerpoint/2010/main" val="30878099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EF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79224" cy="54864"/>
          </a:xfrm>
          <a:prstGeom prst="rect">
            <a:avLst/>
          </a:prstGeom>
          <a:solidFill>
            <a:srgbClr val="1A3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Mathematical Expression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2316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6EF2B2"/>
                </a:solidFill>
              </a:rPr>
              <a:t>Interpreter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D1F7E0"/>
                </a:solidFill>
              </a:rPr>
              <a:t>A browser-based educational compiler pipeline visualizer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572000"/>
            <a:ext cx="1463040" cy="502920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EF2B2"/>
                </a:solidFill>
              </a:rPr>
              <a:t>Lexer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46634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556677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4572000"/>
            <a:ext cx="1463040" cy="502920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80" y="457200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D85E"/>
                </a:solidFill>
              </a:rPr>
              <a:t>Parser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46634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556677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0" y="4572000"/>
            <a:ext cx="1463040" cy="502920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80960" y="457200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7AF5F5"/>
                </a:solidFill>
              </a:rPr>
              <a:t>Evaluator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394960"/>
            <a:ext cx="10058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556677"/>
                </a:solidFill>
              </a:rPr>
              <a:t>JavaScript  •  HTML5  •  CSS3  •  SQLite  •  Vanilla JS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6EF2B2"/>
                </a:solidFill>
              </a:rPr>
              <a:t>Project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4552" cy="25400"/>
          </a:xfrm>
          <a:prstGeom prst="rect">
            <a:avLst/>
          </a:prstGeom>
          <a:solidFill>
            <a:srgbClr val="6EF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D1F7E0"/>
                </a:solidFill>
              </a:rPr>
              <a:t>A fully client-side interpreter that tokenizes, parses, and evaluates a custom mathematical DSL — visualizing every stage of the compilation pipeline in real 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65960"/>
            <a:ext cx="6858000" cy="4114800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2057400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6EF2B2"/>
                </a:solidFill>
              </a:rPr>
              <a:t>Learning Goals &amp;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23160"/>
            <a:ext cx="6583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D1F7E0"/>
                </a:solidFill>
              </a:rPr>
              <a:t>• Demonstrate the three-stage compilation pipeline (Lex → Parse → Evaluate)</a:t>
            </a:r>
          </a:p>
          <a:p>
            <a:pPr algn="l"/>
            <a:r>
              <a:rPr sz="1700">
                <a:solidFill>
                  <a:srgbClr val="D1F7E0"/>
                </a:solidFill>
              </a:rPr>
              <a:t>• Provide step-by-step execution to aid learning and debugging</a:t>
            </a:r>
          </a:p>
          <a:p>
            <a:pPr algn="l"/>
            <a:r>
              <a:rPr sz="1700">
                <a:solidFill>
                  <a:srgbClr val="D1F7E0"/>
                </a:solidFill>
              </a:rPr>
              <a:t>• Visualize ASTs as both formatted text and interactive SVG diagrams</a:t>
            </a:r>
          </a:p>
          <a:p>
            <a:pPr algn="l"/>
            <a:r>
              <a:rPr sz="1700">
                <a:solidFill>
                  <a:srgbClr val="D1F7E0"/>
                </a:solidFill>
              </a:rPr>
              <a:t>• Persist programs and execution history using in-browser SQLite (WASM)</a:t>
            </a:r>
          </a:p>
          <a:p>
            <a:pPr algn="l"/>
            <a:r>
              <a:rPr sz="1700">
                <a:solidFill>
                  <a:srgbClr val="D1F7E0"/>
                </a:solidFill>
              </a:rPr>
              <a:t>• Run entirely in the browser — no server, no build step required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1965960"/>
            <a:ext cx="4206240" cy="4114800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35239" y="20574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D85E"/>
                </a:solidFill>
              </a:rPr>
              <a:t>Technology 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39" y="2423160"/>
            <a:ext cx="393192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dirty="0">
                <a:solidFill>
                  <a:srgbClr val="D1F7E0"/>
                </a:solidFill>
              </a:rPr>
              <a:t>• Vanilla JavaScript (ES6+)</a:t>
            </a:r>
          </a:p>
          <a:p>
            <a:pPr algn="l"/>
            <a:r>
              <a:rPr sz="1700" dirty="0">
                <a:solidFill>
                  <a:srgbClr val="D1F7E0"/>
                </a:solidFill>
              </a:rPr>
              <a:t>• HTML5 &amp; CSS3 (dark terminal theme)</a:t>
            </a:r>
          </a:p>
          <a:p>
            <a:pPr algn="l"/>
            <a:r>
              <a:rPr sz="1700" dirty="0">
                <a:solidFill>
                  <a:srgbClr val="D1F7E0"/>
                </a:solidFill>
              </a:rPr>
              <a:t>• </a:t>
            </a:r>
            <a:r>
              <a:rPr sz="1700" dirty="0" err="1">
                <a:solidFill>
                  <a:srgbClr val="D1F7E0"/>
                </a:solidFill>
              </a:rPr>
              <a:t>sql.js</a:t>
            </a:r>
            <a:r>
              <a:rPr sz="1700" dirty="0">
                <a:solidFill>
                  <a:srgbClr val="D1F7E0"/>
                </a:solidFill>
              </a:rPr>
              <a:t> — SQLite</a:t>
            </a:r>
          </a:p>
          <a:p>
            <a:pPr algn="l"/>
            <a:r>
              <a:rPr sz="1700" dirty="0">
                <a:solidFill>
                  <a:srgbClr val="D1F7E0"/>
                </a:solidFill>
              </a:rPr>
              <a:t>• SVG-based AST tree renderer</a:t>
            </a:r>
          </a:p>
          <a:p>
            <a:pPr algn="l"/>
            <a:r>
              <a:rPr sz="1700" dirty="0">
                <a:solidFill>
                  <a:srgbClr val="D1F7E0"/>
                </a:solidFill>
              </a:rPr>
              <a:t>• 14 built-in code examples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6EF2B2"/>
                </a:solidFill>
              </a:rPr>
              <a:t>Architecture — Three-Stage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4552" cy="25400"/>
          </a:xfrm>
          <a:prstGeom prst="rect">
            <a:avLst/>
          </a:prstGeom>
          <a:solidFill>
            <a:srgbClr val="6EF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Source Code (textarea)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3017520" cy="411480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Source Code (textarea)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45920"/>
            <a:ext cx="3200400" cy="4663440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645920"/>
            <a:ext cx="3200400" cy="502920"/>
          </a:xfrm>
          <a:prstGeom prst="rect">
            <a:avLst/>
          </a:prstGeom>
          <a:solidFill>
            <a:srgbClr val="6EF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6459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Stage 1
Lexer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945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EF2B2"/>
                </a:solidFill>
              </a:rPr>
              <a:t>lexer.js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D1F7E0"/>
                </a:solidFill>
              </a:rPr>
              <a:t>• Reads source character by character</a:t>
            </a:r>
          </a:p>
          <a:p>
            <a:r>
              <a:rPr sz="1400">
                <a:solidFill>
                  <a:srgbClr val="D1F7E0"/>
                </a:solidFill>
              </a:rPr>
              <a:t>• Produces a flat Token[ ] array</a:t>
            </a:r>
          </a:p>
          <a:p>
            <a:r>
              <a:rPr sz="1400">
                <a:solidFill>
                  <a:srgbClr val="D1F7E0"/>
                </a:solidFill>
              </a:rPr>
              <a:t>• Handles whitespace &amp; # comments</a:t>
            </a:r>
          </a:p>
          <a:p>
            <a:r>
              <a:rPr sz="1400">
                <a:solidFill>
                  <a:srgbClr val="D1F7E0"/>
                </a:solidFill>
              </a:rPr>
              <a:t>• 30+ token types (NUM, IDENT, ops…)</a:t>
            </a:r>
          </a:p>
          <a:p>
            <a:r>
              <a:rPr sz="1400">
                <a:solidFill>
                  <a:srgbClr val="D1F7E0"/>
                </a:solidFill>
              </a:rPr>
              <a:t>• Tracks line &amp; column positions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8" y="3840480"/>
            <a:ext cx="56692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6EF2B2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87367" y="1645920"/>
            <a:ext cx="3200400" cy="4663440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087367" y="1645920"/>
            <a:ext cx="3200400" cy="502920"/>
          </a:xfrm>
          <a:prstGeom prst="rect">
            <a:avLst/>
          </a:prstGeom>
          <a:solidFill>
            <a:srgbClr val="F5D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87367" y="16459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Stage 2
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7" y="21945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5D85E"/>
                </a:solidFill>
              </a:rPr>
              <a:t>parser.js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7" y="251460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D1F7E0"/>
                </a:solidFill>
              </a:rPr>
              <a:t>• Recursive-descent LL(1) grammar</a:t>
            </a:r>
          </a:p>
          <a:p>
            <a:r>
              <a:rPr sz="1400">
                <a:solidFill>
                  <a:srgbClr val="D1F7E0"/>
                </a:solidFill>
              </a:rPr>
              <a:t>• Builds Abstract Syntax Tree (AST)</a:t>
            </a:r>
          </a:p>
          <a:p>
            <a:r>
              <a:rPr sz="1400">
                <a:solidFill>
                  <a:srgbClr val="D1F7E0"/>
                </a:solidFill>
              </a:rPr>
              <a:t>• 9 AST node types (BinOp, If, …)</a:t>
            </a:r>
          </a:p>
          <a:p>
            <a:r>
              <a:rPr sz="1400">
                <a:solidFill>
                  <a:srgbClr val="D1F7E0"/>
                </a:solidFill>
              </a:rPr>
              <a:t>• Collects multiple parse errors</a:t>
            </a:r>
          </a:p>
          <a:p>
            <a:r>
              <a:rPr sz="1400">
                <a:solidFill>
                  <a:srgbClr val="D1F7E0"/>
                </a:solidFill>
              </a:rPr>
              <a:t>• Exports pretty-print &amp; SVG tree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97495" y="3840480"/>
            <a:ext cx="56692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6EF2B2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08974" y="1645920"/>
            <a:ext cx="3200400" cy="4663440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808974" y="1645920"/>
            <a:ext cx="3200400" cy="502920"/>
          </a:xfrm>
          <a:prstGeom prst="rect">
            <a:avLst/>
          </a:prstGeom>
          <a:solidFill>
            <a:srgbClr val="7A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808974" y="16459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Stage 3
Evaluator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08974" y="21945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AF5F5"/>
                </a:solidFill>
              </a:rPr>
              <a:t>evaluator.js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46134" y="251460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D1F7E0"/>
                </a:solidFill>
              </a:rPr>
              <a:t>• Tree-walks the AST</a:t>
            </a:r>
          </a:p>
          <a:p>
            <a:r>
              <a:rPr sz="1400">
                <a:solidFill>
                  <a:srgbClr val="D1F7E0"/>
                </a:solidFill>
              </a:rPr>
              <a:t>• Maintains a symbol table (env)</a:t>
            </a:r>
          </a:p>
          <a:p>
            <a:r>
              <a:rPr sz="1400">
                <a:solidFill>
                  <a:srgbClr val="D1F7E0"/>
                </a:solidFill>
              </a:rPr>
              <a:t>• Generates a detailed trace log</a:t>
            </a:r>
          </a:p>
          <a:p>
            <a:r>
              <a:rPr sz="1400">
                <a:solidFill>
                  <a:srgbClr val="D1F7E0"/>
                </a:solidFill>
              </a:rPr>
              <a:t>• Detects runtime errors (÷0, etc.)</a:t>
            </a:r>
          </a:p>
          <a:p>
            <a:r>
              <a:rPr sz="1400">
                <a:solidFill>
                  <a:srgbClr val="D1F7E0"/>
                </a:solidFill>
              </a:rPr>
              <a:t>• Collects print( )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5943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677"/>
                </a:solidFill>
              </a:rPr>
              <a:t>⬇  logged to SQLite (database.js)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6EF2B2"/>
                </a:solidFill>
              </a:rPr>
              <a:t>Stage 1 — Lexer  (lexer.js)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4552" cy="25400"/>
          </a:xfrm>
          <a:prstGeom prst="rect">
            <a:avLst/>
          </a:prstGeom>
          <a:solidFill>
            <a:srgbClr val="6EF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D1F7E0"/>
                </a:solidFill>
              </a:rPr>
              <a:t>• Converts raw source text into a flat sequence of typed tokens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Case-insensitive: ADD, add, Add all produce the same token type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Supports # single-line comments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Stores line + column for each token (used in error messages)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InterpError class carries position + message for lexical errors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520440"/>
            <a:ext cx="5029200" cy="256032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3611880"/>
            <a:ext cx="484632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7AF5F5"/>
                </a:solidFill>
                <a:latin typeface="Courier New"/>
              </a:rPr>
              <a:t>// Input source</a:t>
            </a:r>
          </a:p>
          <a:p>
            <a:r>
              <a:rPr sz="1300">
                <a:solidFill>
                  <a:srgbClr val="7AF5F5"/>
                </a:solidFill>
                <a:latin typeface="Courier New"/>
              </a:rPr>
              <a:t>x = add 3 mult 4 5 ;</a:t>
            </a:r>
          </a:p>
          <a:p>
            <a:endParaRPr sz="1300">
              <a:solidFill>
                <a:srgbClr val="7AF5F5"/>
              </a:solidFill>
              <a:latin typeface="Courier New"/>
            </a:endParaRPr>
          </a:p>
          <a:p>
            <a:r>
              <a:rPr sz="1300">
                <a:solidFill>
                  <a:srgbClr val="7AF5F5"/>
                </a:solidFill>
                <a:latin typeface="Courier New"/>
              </a:rPr>
              <a:t>// Tokens produced</a:t>
            </a:r>
          </a:p>
          <a:p>
            <a:r>
              <a:rPr sz="1300">
                <a:solidFill>
                  <a:srgbClr val="7AF5F5"/>
                </a:solidFill>
                <a:latin typeface="Courier New"/>
              </a:rPr>
              <a:t>IDENT('x')  EQ  IDENT('add')  NUMBER(3)</a:t>
            </a:r>
          </a:p>
          <a:p>
            <a:r>
              <a:rPr sz="1300">
                <a:solidFill>
                  <a:srgbClr val="7AF5F5"/>
                </a:solidFill>
                <a:latin typeface="Courier New"/>
              </a:rPr>
              <a:t>IDENT('mult')  NUMBER(4)  NUMBER(5)  SEMI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114300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1F7E0"/>
                </a:solidFill>
              </a:rPr>
              <a:t>Literals:  NUMBER — integers &amp; floats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527048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1F7E0"/>
                </a:solidFill>
              </a:rPr>
              <a:t>Identifiers:  IDENT — variable names &amp; keywords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1911096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1F7E0"/>
                </a:solidFill>
              </a:rPr>
              <a:t>Arithmetic:  ADD, SUB, MULT, DIV, MOD, POW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229514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1F7E0"/>
                </a:solidFill>
              </a:rPr>
              <a:t>Comparisons:  GT, LT, EQOP (eq keyword)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267919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1F7E0"/>
                </a:solidFill>
              </a:rPr>
              <a:t>Built-ins:  SQRT, ABS, FLOOR, CEIL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06324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1F7E0"/>
                </a:solidFill>
              </a:rPr>
              <a:t>Control:  IF, PRINT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3447288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1F7E0"/>
                </a:solidFill>
              </a:rPr>
              <a:t>Punctuation:  LPAREN, RPAREN, LBRACE, RBRACE, SEMI, ASSIGN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6EF2B2"/>
                </a:solidFill>
              </a:rPr>
              <a:t>Stage 2 — Parser &amp; AST  (parser.js)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4552" cy="25400"/>
          </a:xfrm>
          <a:prstGeom prst="rect">
            <a:avLst/>
          </a:prstGeom>
          <a:solidFill>
            <a:srgbClr val="6EF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D1F7E0"/>
                </a:solidFill>
              </a:rPr>
              <a:t>• Recursive-descent LL(1) parser — no external grammar tools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Operator precedence baked into grammar levels:</a:t>
            </a:r>
          </a:p>
          <a:p>
            <a:pPr algn="l"/>
            <a:r>
              <a:rPr sz="1600">
                <a:solidFill>
                  <a:srgbClr val="556677"/>
                </a:solidFill>
              </a:rPr>
              <a:t>  pow  &gt;  mult / div / mod  &gt;  add / sub  &gt;  gt / lt / eq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Error recovery: collects multiple errors, keeps parsing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AST node types: NumberNode, IdentNode, BinOpNode,</a:t>
            </a:r>
          </a:p>
          <a:p>
            <a:pPr algn="l"/>
            <a:r>
              <a:rPr sz="1600">
                <a:solidFill>
                  <a:srgbClr val="556677"/>
                </a:solidFill>
              </a:rPr>
              <a:t>  UnaryNode, BuiltinNode, AssignNode, PrintNode, IfNode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Exports prettyAST( ) text view AND interactive SVG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404620"/>
            <a:ext cx="5577840" cy="28346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0" y="1691640"/>
            <a:ext cx="5394960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AF5F5"/>
                </a:solidFill>
                <a:latin typeface="Courier New"/>
              </a:rPr>
              <a:t>program  → statement* EOF</a:t>
            </a:r>
          </a:p>
          <a:p>
            <a:r>
              <a:rPr sz="1200">
                <a:solidFill>
                  <a:srgbClr val="7AF5F5"/>
                </a:solidFill>
                <a:latin typeface="Courier New"/>
              </a:rPr>
              <a:t>statement→ IDENT '=' expr ';'</a:t>
            </a:r>
          </a:p>
          <a:p>
            <a:r>
              <a:rPr sz="1200">
                <a:solidFill>
                  <a:srgbClr val="7AF5F5"/>
                </a:solidFill>
                <a:latin typeface="Courier New"/>
              </a:rPr>
              <a:t>         | 'print' '(' expr ')' ';'</a:t>
            </a:r>
          </a:p>
          <a:p>
            <a:r>
              <a:rPr sz="1200">
                <a:solidFill>
                  <a:srgbClr val="7AF5F5"/>
                </a:solidFill>
                <a:latin typeface="Courier New"/>
              </a:rPr>
              <a:t>         | 'if' '(' expr ')' '{' statement* '}'</a:t>
            </a:r>
          </a:p>
          <a:p>
            <a:r>
              <a:rPr sz="1200">
                <a:solidFill>
                  <a:srgbClr val="7AF5F5"/>
                </a:solidFill>
                <a:latin typeface="Courier New"/>
              </a:rPr>
              <a:t>expr     → addExpr ( ('gt'|'lt'|'eq') addExpr )?</a:t>
            </a:r>
          </a:p>
          <a:p>
            <a:r>
              <a:rPr sz="1200">
                <a:solidFill>
                  <a:srgbClr val="7AF5F5"/>
                </a:solidFill>
                <a:latin typeface="Courier New"/>
              </a:rPr>
              <a:t>addExpr  → term ( ('add'|'sub') term )*</a:t>
            </a:r>
          </a:p>
          <a:p>
            <a:r>
              <a:rPr sz="1200">
                <a:solidFill>
                  <a:srgbClr val="7AF5F5"/>
                </a:solidFill>
                <a:latin typeface="Courier New"/>
              </a:rPr>
              <a:t>term     → power ( ('mult'|'div'|'mod') power )*</a:t>
            </a:r>
          </a:p>
          <a:p>
            <a:r>
              <a:rPr sz="1200">
                <a:solidFill>
                  <a:srgbClr val="7AF5F5"/>
                </a:solidFill>
                <a:latin typeface="Courier New"/>
              </a:rPr>
              <a:t>power    → factor ( 'pow' factor )?</a:t>
            </a:r>
          </a:p>
          <a:p>
            <a:r>
              <a:rPr sz="1200">
                <a:solidFill>
                  <a:srgbClr val="7AF5F5"/>
                </a:solidFill>
                <a:latin typeface="Courier New"/>
              </a:rPr>
              <a:t>factor   → NUMBER | IDENT | '(' expr ')' | '-' factor</a:t>
            </a:r>
          </a:p>
          <a:p>
            <a:r>
              <a:rPr sz="1200">
                <a:solidFill>
                  <a:srgbClr val="7AF5F5"/>
                </a:solidFill>
                <a:latin typeface="Courier New"/>
              </a:rPr>
              <a:t>         | builtin '(' expr ')'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06807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5D85E"/>
                </a:solidFill>
              </a:rPr>
              <a:t>EBNF Grammar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846320"/>
            <a:ext cx="5486400" cy="16916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5303520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7AF5F5"/>
                </a:solidFill>
                <a:latin typeface="Courier New"/>
              </a:rPr>
              <a:t>x = add 3 4 ;</a:t>
            </a:r>
          </a:p>
          <a:p>
            <a:endParaRPr sz="1300">
              <a:solidFill>
                <a:srgbClr val="7AF5F5"/>
              </a:solidFill>
              <a:latin typeface="Courier New"/>
            </a:endParaRPr>
          </a:p>
          <a:p>
            <a:r>
              <a:rPr sz="1300">
                <a:solidFill>
                  <a:srgbClr val="7AF5F5"/>
                </a:solidFill>
                <a:latin typeface="Courier New"/>
              </a:rPr>
              <a:t>ProgramNode</a:t>
            </a:r>
          </a:p>
          <a:p>
            <a:r>
              <a:rPr sz="1300">
                <a:solidFill>
                  <a:srgbClr val="7AF5F5"/>
                </a:solidFill>
                <a:latin typeface="Courier New"/>
              </a:rPr>
              <a:t> └─ AssignNode  x</a:t>
            </a:r>
          </a:p>
          <a:p>
            <a:r>
              <a:rPr sz="1300">
                <a:solidFill>
                  <a:srgbClr val="7AF5F5"/>
                </a:solidFill>
                <a:latin typeface="Courier New"/>
              </a:rPr>
              <a:t>     └─ BinOpNode  add</a:t>
            </a:r>
          </a:p>
          <a:p>
            <a:r>
              <a:rPr sz="1300">
                <a:solidFill>
                  <a:srgbClr val="7AF5F5"/>
                </a:solidFill>
                <a:latin typeface="Courier New"/>
              </a:rPr>
              <a:t>         ├─ NumberNode  3</a:t>
            </a:r>
          </a:p>
          <a:p>
            <a:r>
              <a:rPr sz="1300">
                <a:solidFill>
                  <a:srgbClr val="7AF5F5"/>
                </a:solidFill>
                <a:latin typeface="Courier New"/>
              </a:rPr>
              <a:t>         └─ NumberNode 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D85E"/>
                </a:solidFill>
              </a:rPr>
              <a:t>Example AST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6EF2B2"/>
                </a:solidFill>
              </a:rPr>
              <a:t>Stage 3 — Evaluator  (evaluator.js)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4552" cy="25400"/>
          </a:xfrm>
          <a:prstGeom prst="rect">
            <a:avLst/>
          </a:prstGeom>
          <a:solidFill>
            <a:srgbClr val="6EF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D1F7E0"/>
                </a:solidFill>
              </a:rPr>
              <a:t>• Tree-walks the AST recursively — no bytecode, no compilation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Maintains an env (symbol table): variable → numeric value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Each step is logged to a trace array with indentation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Arithmetic: add sub mult div mod pow (Math.pow)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Comparisons: gt lt eq  return 1 (true) or 0 (false)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Built-ins: sqrt( ) abs( ) floor( ) ceil( ) via Math.*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Division / modulo by zero → caught as runtime error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if(cond) body executes only when cond ≠ 0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737360"/>
            <a:ext cx="5577840" cy="411480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217920" y="2181113"/>
            <a:ext cx="53949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dirty="0">
                <a:solidFill>
                  <a:srgbClr val="7AF5F5"/>
                </a:solidFill>
                <a:latin typeface="Courier New"/>
              </a:rPr>
              <a:t>&gt; x = add 3 </a:t>
            </a:r>
            <a:r>
              <a:rPr sz="1200" dirty="0" err="1">
                <a:solidFill>
                  <a:srgbClr val="7AF5F5"/>
                </a:solidFill>
                <a:latin typeface="Courier New"/>
              </a:rPr>
              <a:t>mult</a:t>
            </a:r>
            <a:r>
              <a:rPr sz="1200" dirty="0">
                <a:solidFill>
                  <a:srgbClr val="7AF5F5"/>
                </a:solidFill>
                <a:latin typeface="Courier New"/>
              </a:rPr>
              <a:t> 4 5 ;</a:t>
            </a:r>
          </a:p>
          <a:p>
            <a:r>
              <a:rPr sz="1200" dirty="0">
                <a:solidFill>
                  <a:srgbClr val="7AF5F5"/>
                </a:solidFill>
                <a:latin typeface="Courier New"/>
              </a:rPr>
              <a:t>  eval </a:t>
            </a:r>
            <a:r>
              <a:rPr sz="1200" dirty="0" err="1">
                <a:solidFill>
                  <a:srgbClr val="7AF5F5"/>
                </a:solidFill>
                <a:latin typeface="Courier New"/>
              </a:rPr>
              <a:t>BinOpNode</a:t>
            </a:r>
            <a:r>
              <a:rPr sz="1200" dirty="0">
                <a:solidFill>
                  <a:srgbClr val="7AF5F5"/>
                </a:solidFill>
                <a:latin typeface="Courier New"/>
              </a:rPr>
              <a:t>(add)</a:t>
            </a:r>
          </a:p>
          <a:p>
            <a:r>
              <a:rPr sz="1200" dirty="0">
                <a:solidFill>
                  <a:srgbClr val="7AF5F5"/>
                </a:solidFill>
                <a:latin typeface="Courier New"/>
              </a:rPr>
              <a:t>    eval </a:t>
            </a:r>
            <a:r>
              <a:rPr sz="1200" dirty="0" err="1">
                <a:solidFill>
                  <a:srgbClr val="7AF5F5"/>
                </a:solidFill>
                <a:latin typeface="Courier New"/>
              </a:rPr>
              <a:t>NumberNode</a:t>
            </a:r>
            <a:r>
              <a:rPr sz="1200" dirty="0">
                <a:solidFill>
                  <a:srgbClr val="7AF5F5"/>
                </a:solidFill>
                <a:latin typeface="Courier New"/>
              </a:rPr>
              <a:t> -&gt; 3</a:t>
            </a:r>
          </a:p>
          <a:p>
            <a:r>
              <a:rPr sz="1200" dirty="0">
                <a:solidFill>
                  <a:srgbClr val="7AF5F5"/>
                </a:solidFill>
                <a:latin typeface="Courier New"/>
              </a:rPr>
              <a:t>    eval </a:t>
            </a:r>
            <a:r>
              <a:rPr sz="1200" dirty="0" err="1">
                <a:solidFill>
                  <a:srgbClr val="7AF5F5"/>
                </a:solidFill>
                <a:latin typeface="Courier New"/>
              </a:rPr>
              <a:t>BinOpNode</a:t>
            </a:r>
            <a:r>
              <a:rPr sz="1200" dirty="0">
                <a:solidFill>
                  <a:srgbClr val="7AF5F5"/>
                </a:solidFill>
                <a:latin typeface="Courier New"/>
              </a:rPr>
              <a:t>(</a:t>
            </a:r>
            <a:r>
              <a:rPr sz="1200" dirty="0" err="1">
                <a:solidFill>
                  <a:srgbClr val="7AF5F5"/>
                </a:solidFill>
                <a:latin typeface="Courier New"/>
              </a:rPr>
              <a:t>mult</a:t>
            </a:r>
            <a:r>
              <a:rPr sz="1200" dirty="0">
                <a:solidFill>
                  <a:srgbClr val="7AF5F5"/>
                </a:solidFill>
                <a:latin typeface="Courier New"/>
              </a:rPr>
              <a:t>)</a:t>
            </a:r>
          </a:p>
          <a:p>
            <a:r>
              <a:rPr sz="1200" dirty="0">
                <a:solidFill>
                  <a:srgbClr val="7AF5F5"/>
                </a:solidFill>
                <a:latin typeface="Courier New"/>
              </a:rPr>
              <a:t>      eval </a:t>
            </a:r>
            <a:r>
              <a:rPr sz="1200" dirty="0" err="1">
                <a:solidFill>
                  <a:srgbClr val="7AF5F5"/>
                </a:solidFill>
                <a:latin typeface="Courier New"/>
              </a:rPr>
              <a:t>NumberNode</a:t>
            </a:r>
            <a:r>
              <a:rPr sz="1200" dirty="0">
                <a:solidFill>
                  <a:srgbClr val="7AF5F5"/>
                </a:solidFill>
                <a:latin typeface="Courier New"/>
              </a:rPr>
              <a:t> -&gt; 4</a:t>
            </a:r>
          </a:p>
          <a:p>
            <a:r>
              <a:rPr sz="1200" dirty="0">
                <a:solidFill>
                  <a:srgbClr val="7AF5F5"/>
                </a:solidFill>
                <a:latin typeface="Courier New"/>
              </a:rPr>
              <a:t>      eval </a:t>
            </a:r>
            <a:r>
              <a:rPr sz="1200" dirty="0" err="1">
                <a:solidFill>
                  <a:srgbClr val="7AF5F5"/>
                </a:solidFill>
                <a:latin typeface="Courier New"/>
              </a:rPr>
              <a:t>NumberNode</a:t>
            </a:r>
            <a:r>
              <a:rPr sz="1200" dirty="0">
                <a:solidFill>
                  <a:srgbClr val="7AF5F5"/>
                </a:solidFill>
                <a:latin typeface="Courier New"/>
              </a:rPr>
              <a:t> -&gt; 5</a:t>
            </a:r>
          </a:p>
          <a:p>
            <a:r>
              <a:rPr sz="1200" dirty="0">
                <a:solidFill>
                  <a:srgbClr val="7AF5F5"/>
                </a:solidFill>
                <a:latin typeface="Courier New"/>
              </a:rPr>
              <a:t>      &lt;- </a:t>
            </a:r>
            <a:r>
              <a:rPr sz="1200" dirty="0" err="1">
                <a:solidFill>
                  <a:srgbClr val="7AF5F5"/>
                </a:solidFill>
                <a:latin typeface="Courier New"/>
              </a:rPr>
              <a:t>mult</a:t>
            </a:r>
            <a:r>
              <a:rPr sz="1200" dirty="0">
                <a:solidFill>
                  <a:srgbClr val="7AF5F5"/>
                </a:solidFill>
                <a:latin typeface="Courier New"/>
              </a:rPr>
              <a:t>: 20</a:t>
            </a:r>
          </a:p>
          <a:p>
            <a:r>
              <a:rPr sz="1200" dirty="0">
                <a:solidFill>
                  <a:srgbClr val="7AF5F5"/>
                </a:solidFill>
                <a:latin typeface="Courier New"/>
              </a:rPr>
              <a:t>    &lt;- add: 23</a:t>
            </a:r>
          </a:p>
          <a:p>
            <a:r>
              <a:rPr sz="1200" dirty="0">
                <a:solidFill>
                  <a:srgbClr val="7AF5F5"/>
                </a:solidFill>
                <a:latin typeface="Courier New"/>
              </a:rPr>
              <a:t>  assign x = 23</a:t>
            </a:r>
          </a:p>
          <a:p>
            <a:endParaRPr sz="1200" dirty="0">
              <a:solidFill>
                <a:srgbClr val="7AF5F5"/>
              </a:solidFill>
              <a:latin typeface="Courier New"/>
            </a:endParaRPr>
          </a:p>
          <a:p>
            <a:r>
              <a:rPr sz="1200" dirty="0">
                <a:solidFill>
                  <a:srgbClr val="7AF5F5"/>
                </a:solidFill>
                <a:latin typeface="Courier New"/>
              </a:rPr>
              <a:t>&gt; print(x) ;</a:t>
            </a:r>
          </a:p>
          <a:p>
            <a:r>
              <a:rPr sz="1200" dirty="0">
                <a:solidFill>
                  <a:srgbClr val="7AF5F5"/>
                </a:solidFill>
                <a:latin typeface="Courier New"/>
              </a:rPr>
              <a:t>  eval </a:t>
            </a:r>
            <a:r>
              <a:rPr sz="1200" dirty="0" err="1">
                <a:solidFill>
                  <a:srgbClr val="7AF5F5"/>
                </a:solidFill>
                <a:latin typeface="Courier New"/>
              </a:rPr>
              <a:t>IdentNode</a:t>
            </a:r>
            <a:r>
              <a:rPr sz="1200" dirty="0">
                <a:solidFill>
                  <a:srgbClr val="7AF5F5"/>
                </a:solidFill>
                <a:latin typeface="Courier New"/>
              </a:rPr>
              <a:t> x -&gt; 23</a:t>
            </a:r>
          </a:p>
          <a:p>
            <a:r>
              <a:rPr sz="1200" dirty="0">
                <a:solidFill>
                  <a:srgbClr val="7AF5F5"/>
                </a:solidFill>
                <a:latin typeface="Courier New"/>
              </a:rPr>
              <a:t>  print: 23</a:t>
            </a:r>
          </a:p>
          <a:p>
            <a:endParaRPr sz="1200" dirty="0">
              <a:solidFill>
                <a:srgbClr val="7AF5F5"/>
              </a:solidFill>
              <a:latin typeface="Courier New"/>
            </a:endParaRPr>
          </a:p>
          <a:p>
            <a:r>
              <a:rPr sz="1200" dirty="0">
                <a:solidFill>
                  <a:srgbClr val="7AF5F5"/>
                </a:solidFill>
                <a:latin typeface="Courier New"/>
              </a:rPr>
              <a:t>Symbol Table:  { x: 23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31751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5D85E"/>
                </a:solidFill>
              </a:rPr>
              <a:t>Execution Trace (sample)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6EF2B2"/>
                </a:solidFill>
              </a:rPr>
              <a:t>Language Syntax &amp;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4552" cy="25400"/>
          </a:xfrm>
          <a:prstGeom prst="rect">
            <a:avLst/>
          </a:prstGeom>
          <a:solidFill>
            <a:srgbClr val="6EF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5669280" cy="53492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486400" cy="5166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7AF5F5"/>
                </a:solidFill>
                <a:latin typeface="Courier New"/>
              </a:rPr>
              <a:t># ── variables ──────────────────────────────</a:t>
            </a:r>
          </a:p>
          <a:p>
            <a:r>
              <a:rPr sz="1300">
                <a:solidFill>
                  <a:srgbClr val="7AF5F5"/>
                </a:solidFill>
                <a:latin typeface="Courier New"/>
              </a:rPr>
              <a:t>x = 10 ;</a:t>
            </a:r>
          </a:p>
          <a:p>
            <a:r>
              <a:rPr sz="1300">
                <a:solidFill>
                  <a:srgbClr val="7AF5F5"/>
                </a:solidFill>
                <a:latin typeface="Courier New"/>
              </a:rPr>
              <a:t>y = add x 5 ;          # y = 15</a:t>
            </a:r>
          </a:p>
          <a:p>
            <a:endParaRPr sz="1300">
              <a:solidFill>
                <a:srgbClr val="7AF5F5"/>
              </a:solidFill>
              <a:latin typeface="Courier New"/>
            </a:endParaRPr>
          </a:p>
          <a:p>
            <a:r>
              <a:rPr sz="1300">
                <a:solidFill>
                  <a:srgbClr val="7AF5F5"/>
                </a:solidFill>
                <a:latin typeface="Courier New"/>
              </a:rPr>
              <a:t># ── arithmetic ──────────────────────────────</a:t>
            </a:r>
          </a:p>
          <a:p>
            <a:r>
              <a:rPr sz="1300">
                <a:solidFill>
                  <a:srgbClr val="7AF5F5"/>
                </a:solidFill>
                <a:latin typeface="Courier New"/>
              </a:rPr>
              <a:t>z = mult y pow 2 3 ;   # z = 15 * (2^3) = 120</a:t>
            </a:r>
          </a:p>
          <a:p>
            <a:endParaRPr sz="1300">
              <a:solidFill>
                <a:srgbClr val="7AF5F5"/>
              </a:solidFill>
              <a:latin typeface="Courier New"/>
            </a:endParaRPr>
          </a:p>
          <a:p>
            <a:r>
              <a:rPr sz="1300">
                <a:solidFill>
                  <a:srgbClr val="7AF5F5"/>
                </a:solidFill>
                <a:latin typeface="Courier New"/>
              </a:rPr>
              <a:t># ── built-in functions ───────────────────────</a:t>
            </a:r>
          </a:p>
          <a:p>
            <a:r>
              <a:rPr sz="1300">
                <a:solidFill>
                  <a:srgbClr val="7AF5F5"/>
                </a:solidFill>
                <a:latin typeface="Courier New"/>
              </a:rPr>
              <a:t>r = sqrt(144) ;        # r = 12</a:t>
            </a:r>
          </a:p>
          <a:p>
            <a:r>
              <a:rPr sz="1300">
                <a:solidFill>
                  <a:srgbClr val="7AF5F5"/>
                </a:solidFill>
                <a:latin typeface="Courier New"/>
              </a:rPr>
              <a:t>a = abs(sub 3 10) ;    # a = 7</a:t>
            </a:r>
          </a:p>
          <a:p>
            <a:endParaRPr sz="1300">
              <a:solidFill>
                <a:srgbClr val="7AF5F5"/>
              </a:solidFill>
              <a:latin typeface="Courier New"/>
            </a:endParaRPr>
          </a:p>
          <a:p>
            <a:r>
              <a:rPr sz="1300">
                <a:solidFill>
                  <a:srgbClr val="7AF5F5"/>
                </a:solidFill>
                <a:latin typeface="Courier New"/>
              </a:rPr>
              <a:t># ── comparisons (return 1 or 0) ──────────────</a:t>
            </a:r>
          </a:p>
          <a:p>
            <a:r>
              <a:rPr sz="1300">
                <a:solidFill>
                  <a:srgbClr val="7AF5F5"/>
                </a:solidFill>
                <a:latin typeface="Courier New"/>
              </a:rPr>
              <a:t>flag = gt x 5 ;        # flag = 1</a:t>
            </a:r>
          </a:p>
          <a:p>
            <a:endParaRPr sz="1300">
              <a:solidFill>
                <a:srgbClr val="7AF5F5"/>
              </a:solidFill>
              <a:latin typeface="Courier New"/>
            </a:endParaRPr>
          </a:p>
          <a:p>
            <a:r>
              <a:rPr sz="1300">
                <a:solidFill>
                  <a:srgbClr val="7AF5F5"/>
                </a:solidFill>
                <a:latin typeface="Courier New"/>
              </a:rPr>
              <a:t># ── conditional ─────────────────────────────</a:t>
            </a:r>
          </a:p>
          <a:p>
            <a:r>
              <a:rPr sz="1300">
                <a:solidFill>
                  <a:srgbClr val="7AF5F5"/>
                </a:solidFill>
                <a:latin typeface="Courier New"/>
              </a:rPr>
              <a:t>if (flag) {</a:t>
            </a:r>
          </a:p>
          <a:p>
            <a:r>
              <a:rPr sz="1300">
                <a:solidFill>
                  <a:srgbClr val="7AF5F5"/>
                </a:solidFill>
                <a:latin typeface="Courier New"/>
              </a:rPr>
              <a:t>    print(z) ;         # prints 120</a:t>
            </a:r>
          </a:p>
          <a:p>
            <a:r>
              <a:rPr sz="1300">
                <a:solidFill>
                  <a:srgbClr val="7AF5F5"/>
                </a:solidFill>
                <a:latin typeface="Courier New"/>
              </a:rPr>
              <a:t>}</a:t>
            </a:r>
          </a:p>
          <a:p>
            <a:endParaRPr sz="1300">
              <a:solidFill>
                <a:srgbClr val="7AF5F5"/>
              </a:solidFill>
              <a:latin typeface="Courier New"/>
            </a:endParaRPr>
          </a:p>
          <a:p>
            <a:r>
              <a:rPr sz="1300">
                <a:solidFill>
                  <a:srgbClr val="7AF5F5"/>
                </a:solidFill>
                <a:latin typeface="Courier New"/>
              </a:rPr>
              <a:t># ── print ────────────────────────────────────</a:t>
            </a:r>
          </a:p>
          <a:p>
            <a:r>
              <a:rPr sz="1300">
                <a:solidFill>
                  <a:srgbClr val="7AF5F5"/>
                </a:solidFill>
                <a:latin typeface="Courier New"/>
              </a:rPr>
              <a:t>print(add x y) ;       # prints 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4300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EF2B2"/>
                </a:solidFill>
              </a:rPr>
              <a:t>Operators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3560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1F7E0"/>
                </a:solidFill>
              </a:rPr>
              <a:t>  add  sub  mult  div  mod  pow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2821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1F7E0"/>
                </a:solidFill>
              </a:rPr>
              <a:t>  gt   lt   eq  (return 1 / 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1226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D85E"/>
                </a:solidFill>
              </a:rPr>
              <a:t>Built-ins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40487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1F7E0"/>
                </a:solidFill>
              </a:rPr>
              <a:t>  sqrt( )  abs( )  floor( )  ceil(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78892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AF5F5"/>
                </a:solidFill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08152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1F7E0"/>
                </a:solidFill>
              </a:rPr>
              <a:t>  if ( cond ) { … }  — no else yet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37413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1F7E0"/>
                </a:solidFill>
              </a:rPr>
              <a:t>  cond ≠ 0 is truthy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75818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1F7E0"/>
                </a:solidFill>
              </a:rPr>
              <a:t>I/O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05079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1F7E0"/>
                </a:solidFill>
              </a:rPr>
              <a:t>  print( expr ) ;  — outputs to console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34340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1F7E0"/>
                </a:solidFill>
              </a:rPr>
              <a:t>  # comment to end of 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72744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Variables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200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1F7E0"/>
                </a:solidFill>
              </a:rPr>
              <a:t>  name = expr ;  — assigns &amp; stores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1266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1F7E0"/>
                </a:solidFill>
              </a:rPr>
              <a:t>  Any identifier not a keyword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6EF2B2"/>
                </a:solidFill>
              </a:rPr>
              <a:t>User Interface &amp;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4552" cy="25400"/>
          </a:xfrm>
          <a:prstGeom prst="rect">
            <a:avLst/>
          </a:prstGeom>
          <a:solidFill>
            <a:srgbClr val="6EF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5760" y="1143000"/>
            <a:ext cx="2743200" cy="1325880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2743200" cy="347472"/>
          </a:xfrm>
          <a:prstGeom prst="rect">
            <a:avLst/>
          </a:prstGeom>
          <a:solidFill>
            <a:srgbClr val="6EF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Run Mode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27048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F7E0"/>
                </a:solidFill>
              </a:rPr>
              <a:t>Executes full pipeline in one click;
displays all stages simultaneously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143000"/>
            <a:ext cx="2743200" cy="1325880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383280" y="1143000"/>
            <a:ext cx="2743200" cy="347472"/>
          </a:xfrm>
          <a:prstGeom prst="rect">
            <a:avLst/>
          </a:prstGeom>
          <a:solidFill>
            <a:srgbClr val="F5D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11430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Step Mode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527048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F7E0"/>
                </a:solidFill>
              </a:rPr>
              <a:t>Executes one statement at a time;
shows per-statement tokens, AST, trace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143000"/>
            <a:ext cx="2743200" cy="1325880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1143000"/>
            <a:ext cx="2743200" cy="347472"/>
          </a:xfrm>
          <a:prstGeom prst="rect">
            <a:avLst/>
          </a:prstGeom>
          <a:solidFill>
            <a:srgbClr val="7A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11430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Token Inspector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527048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F7E0"/>
                </a:solidFill>
              </a:rPr>
              <a:t>Isolates Stage 1 output; color-coded
badges with type + value + position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20" y="1143000"/>
            <a:ext cx="2743200" cy="1325880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418320" y="1143000"/>
            <a:ext cx="2743200" cy="347472"/>
          </a:xfrm>
          <a:prstGeom prst="rect">
            <a:avLst/>
          </a:prstGeom>
          <a:solidFill>
            <a:srgbClr val="D1F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18320" y="11430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AST Viewer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1527048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F7E0"/>
                </a:solidFill>
              </a:rPr>
              <a:t>Toggle between formatted text tree
and interactive SVG diagram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97480"/>
            <a:ext cx="2743200" cy="1325880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65760" y="2697480"/>
            <a:ext cx="2743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269748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Trace Log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081528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F7E0"/>
                </a:solidFill>
              </a:rPr>
              <a:t>Every reduction step logged with
indented nesting for readability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3280" y="2697480"/>
            <a:ext cx="2743200" cy="1325880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383280" y="2697480"/>
            <a:ext cx="2743200" cy="347472"/>
          </a:xfrm>
          <a:prstGeom prst="rect">
            <a:avLst/>
          </a:prstGeom>
          <a:solidFill>
            <a:srgbClr val="6EF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383280" y="269748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Symbol 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3081528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F7E0"/>
                </a:solidFill>
              </a:rPr>
              <a:t>Live view of all variables and
their current numeric values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697480"/>
            <a:ext cx="2743200" cy="1325880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400800" y="2697480"/>
            <a:ext cx="2743200" cy="347472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0" y="269748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Error Panel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081528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F7E0"/>
                </a:solidFill>
              </a:rPr>
              <a:t>Collects all lex/parse/runtime errors
with line &amp; column pointers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18320" y="2697480"/>
            <a:ext cx="2743200" cy="1325880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418320" y="2697480"/>
            <a:ext cx="2743200" cy="347472"/>
          </a:xfrm>
          <a:prstGeom prst="rect">
            <a:avLst/>
          </a:prstGeom>
          <a:solidFill>
            <a:srgbClr val="F5D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418320" y="269748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14 Examples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0" y="3081528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F7E0"/>
                </a:solidFill>
              </a:rPr>
              <a:t>Built-in example programs from
basic arithmetic to error cases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556677"/>
                </a:solidFill>
              </a:rPr>
              <a:t>Keyboard shortcut: Ctrl+Enter (Cmd+Enter on Mac) to run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6EF2B2"/>
                </a:solidFill>
              </a:rPr>
              <a:t>Database &amp; Persistence  (database.js)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4552" cy="25400"/>
          </a:xfrm>
          <a:prstGeom prst="rect">
            <a:avLst/>
          </a:prstGeom>
          <a:solidFill>
            <a:srgbClr val="6EF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dirty="0">
                <a:solidFill>
                  <a:srgbClr val="D1F7E0"/>
                </a:solidFill>
              </a:rPr>
              <a:t>• Uses </a:t>
            </a:r>
            <a:r>
              <a:rPr sz="1600" dirty="0" err="1">
                <a:solidFill>
                  <a:srgbClr val="D1F7E0"/>
                </a:solidFill>
              </a:rPr>
              <a:t>sql.js</a:t>
            </a:r>
            <a:r>
              <a:rPr sz="1600" dirty="0">
                <a:solidFill>
                  <a:srgbClr val="D1F7E0"/>
                </a:solidFill>
              </a:rPr>
              <a:t> — SQLite, loaded via CDN</a:t>
            </a:r>
          </a:p>
          <a:p>
            <a:pPr algn="l"/>
            <a:r>
              <a:rPr sz="1600" dirty="0">
                <a:solidFill>
                  <a:srgbClr val="D1F7E0"/>
                </a:solidFill>
              </a:rPr>
              <a:t>• Runs entirely in-browser: no server, no Node.js backend</a:t>
            </a:r>
          </a:p>
          <a:p>
            <a:pPr algn="l"/>
            <a:r>
              <a:rPr sz="1600" dirty="0">
                <a:solidFill>
                  <a:srgbClr val="D1F7E0"/>
                </a:solidFill>
              </a:rPr>
              <a:t>• Two tables: programs (saved code) and runs (execution history)</a:t>
            </a:r>
          </a:p>
          <a:p>
            <a:pPr algn="l"/>
            <a:r>
              <a:rPr sz="1600" dirty="0">
                <a:solidFill>
                  <a:srgbClr val="D1F7E0"/>
                </a:solidFill>
              </a:rPr>
              <a:t>• Auto-logs every execution: code, variable count, error flag, timestamp</a:t>
            </a:r>
          </a:p>
          <a:p>
            <a:pPr algn="l"/>
            <a:r>
              <a:rPr sz="1600" dirty="0">
                <a:solidFill>
                  <a:srgbClr val="D1F7E0"/>
                </a:solidFill>
              </a:rPr>
              <a:t>• INSERT OR REPLACE on programs — safe overwrite of existing names</a:t>
            </a:r>
          </a:p>
          <a:p>
            <a:pPr algn="l"/>
            <a:r>
              <a:rPr sz="1600" dirty="0">
                <a:solidFill>
                  <a:srgbClr val="D1F7E0"/>
                </a:solidFill>
              </a:rPr>
              <a:t>• Run History shows last 20 runs with error/success badges</a:t>
            </a:r>
          </a:p>
          <a:p>
            <a:pPr algn="l"/>
            <a:r>
              <a:rPr sz="1600" dirty="0">
                <a:solidFill>
                  <a:srgbClr val="D1F7E0"/>
                </a:solidFill>
              </a:rPr>
              <a:t>• SQL Console: type any SQL and see results in a live 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691640"/>
            <a:ext cx="5577840" cy="32918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45226" y="1874520"/>
            <a:ext cx="539496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dirty="0">
                <a:solidFill>
                  <a:srgbClr val="7AF5F5"/>
                </a:solidFill>
                <a:latin typeface="Courier New"/>
              </a:rPr>
              <a:t>-- Table: programs</a:t>
            </a:r>
          </a:p>
          <a:p>
            <a:r>
              <a:rPr sz="1300" dirty="0">
                <a:solidFill>
                  <a:srgbClr val="7AF5F5"/>
                </a:solidFill>
                <a:latin typeface="Courier New"/>
              </a:rPr>
              <a:t>CREATE TABLE programs (</a:t>
            </a:r>
          </a:p>
          <a:p>
            <a:r>
              <a:rPr sz="1300" dirty="0">
                <a:solidFill>
                  <a:srgbClr val="7AF5F5"/>
                </a:solidFill>
                <a:latin typeface="Courier New"/>
              </a:rPr>
              <a:t>  name      TEXT PRIMARY KEY,</a:t>
            </a:r>
          </a:p>
          <a:p>
            <a:r>
              <a:rPr sz="1300" dirty="0">
                <a:solidFill>
                  <a:srgbClr val="7AF5F5"/>
                </a:solidFill>
                <a:latin typeface="Courier New"/>
              </a:rPr>
              <a:t>  code      TEXT NOT NULL,</a:t>
            </a:r>
          </a:p>
          <a:p>
            <a:r>
              <a:rPr sz="1300" dirty="0">
                <a:solidFill>
                  <a:srgbClr val="7AF5F5"/>
                </a:solidFill>
                <a:latin typeface="Courier New"/>
              </a:rPr>
              <a:t>  created   TEXT DEFAULT (datetime('now'))</a:t>
            </a:r>
          </a:p>
          <a:p>
            <a:r>
              <a:rPr sz="1300" dirty="0">
                <a:solidFill>
                  <a:srgbClr val="7AF5F5"/>
                </a:solidFill>
                <a:latin typeface="Courier New"/>
              </a:rPr>
              <a:t>);</a:t>
            </a:r>
          </a:p>
          <a:p>
            <a:endParaRPr sz="1300" dirty="0">
              <a:solidFill>
                <a:srgbClr val="7AF5F5"/>
              </a:solidFill>
              <a:latin typeface="Courier New"/>
            </a:endParaRPr>
          </a:p>
          <a:p>
            <a:r>
              <a:rPr sz="1300" dirty="0">
                <a:solidFill>
                  <a:srgbClr val="7AF5F5"/>
                </a:solidFill>
                <a:latin typeface="Courier New"/>
              </a:rPr>
              <a:t>-- Table: runs</a:t>
            </a:r>
          </a:p>
          <a:p>
            <a:r>
              <a:rPr sz="1300" dirty="0">
                <a:solidFill>
                  <a:srgbClr val="7AF5F5"/>
                </a:solidFill>
                <a:latin typeface="Courier New"/>
              </a:rPr>
              <a:t>CREATE TABLE runs (</a:t>
            </a:r>
          </a:p>
          <a:p>
            <a:r>
              <a:rPr sz="1300" dirty="0">
                <a:solidFill>
                  <a:srgbClr val="7AF5F5"/>
                </a:solidFill>
                <a:latin typeface="Courier New"/>
              </a:rPr>
              <a:t>  id        INTEGER PRIMARY KEY AUTOINCREMENT,</a:t>
            </a:r>
          </a:p>
          <a:p>
            <a:r>
              <a:rPr sz="1300" dirty="0">
                <a:solidFill>
                  <a:srgbClr val="7AF5F5"/>
                </a:solidFill>
                <a:latin typeface="Courier New"/>
              </a:rPr>
              <a:t>  code      TEXT,</a:t>
            </a:r>
          </a:p>
          <a:p>
            <a:r>
              <a:rPr sz="1300" dirty="0">
                <a:solidFill>
                  <a:srgbClr val="7AF5F5"/>
                </a:solidFill>
                <a:latin typeface="Courier New"/>
              </a:rPr>
              <a:t>  </a:t>
            </a:r>
            <a:r>
              <a:rPr sz="1300" dirty="0" err="1">
                <a:solidFill>
                  <a:srgbClr val="7AF5F5"/>
                </a:solidFill>
                <a:latin typeface="Courier New"/>
              </a:rPr>
              <a:t>var_count</a:t>
            </a:r>
            <a:r>
              <a:rPr sz="1300" dirty="0">
                <a:solidFill>
                  <a:srgbClr val="7AF5F5"/>
                </a:solidFill>
                <a:latin typeface="Courier New"/>
              </a:rPr>
              <a:t> INTEGER,</a:t>
            </a:r>
          </a:p>
          <a:p>
            <a:r>
              <a:rPr sz="1300" dirty="0">
                <a:solidFill>
                  <a:srgbClr val="7AF5F5"/>
                </a:solidFill>
                <a:latin typeface="Courier New"/>
              </a:rPr>
              <a:t>  </a:t>
            </a:r>
            <a:r>
              <a:rPr sz="1300" dirty="0" err="1">
                <a:solidFill>
                  <a:srgbClr val="7AF5F5"/>
                </a:solidFill>
                <a:latin typeface="Courier New"/>
              </a:rPr>
              <a:t>had_error</a:t>
            </a:r>
            <a:r>
              <a:rPr sz="1300" dirty="0">
                <a:solidFill>
                  <a:srgbClr val="7AF5F5"/>
                </a:solidFill>
                <a:latin typeface="Courier New"/>
              </a:rPr>
              <a:t> INTEGER,   -- 0 or 1</a:t>
            </a:r>
          </a:p>
          <a:p>
            <a:r>
              <a:rPr sz="1300" dirty="0">
                <a:solidFill>
                  <a:srgbClr val="7AF5F5"/>
                </a:solidFill>
                <a:latin typeface="Courier New"/>
              </a:rPr>
              <a:t>  </a:t>
            </a:r>
            <a:r>
              <a:rPr sz="1300" dirty="0" err="1">
                <a:solidFill>
                  <a:srgbClr val="7AF5F5"/>
                </a:solidFill>
                <a:latin typeface="Courier New"/>
              </a:rPr>
              <a:t>run_at</a:t>
            </a:r>
            <a:r>
              <a:rPr sz="1300" dirty="0">
                <a:solidFill>
                  <a:srgbClr val="7AF5F5"/>
                </a:solidFill>
                <a:latin typeface="Courier New"/>
              </a:rPr>
              <a:t>    TEXT DEFAULT (datetime('now'))</a:t>
            </a:r>
          </a:p>
          <a:p>
            <a:r>
              <a:rPr sz="1300" dirty="0">
                <a:solidFill>
                  <a:srgbClr val="7AF5F5"/>
                </a:solidFill>
                <a:latin typeface="Courier New"/>
              </a:rPr>
              <a:t>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45226" y="1280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5D85E"/>
                </a:solidFill>
              </a:rPr>
              <a:t>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7AF5F5"/>
                </a:solidFill>
              </a:rPr>
              <a:t>Key Functions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76672"/>
            <a:ext cx="5486400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D1F7E0"/>
                </a:solidFill>
              </a:rPr>
              <a:t>• dbInit()           — load WASM, create tables</a:t>
            </a:r>
          </a:p>
          <a:p>
            <a:pPr algn="l"/>
            <a:r>
              <a:rPr sz="1500">
                <a:solidFill>
                  <a:srgbClr val="D1F7E0"/>
                </a:solidFill>
              </a:rPr>
              <a:t>• dbSaveProgram()    — INSERT OR REPLACE</a:t>
            </a:r>
          </a:p>
          <a:p>
            <a:pPr algn="l"/>
            <a:r>
              <a:rPr sz="1500">
                <a:solidFill>
                  <a:srgbClr val="D1F7E0"/>
                </a:solidFill>
              </a:rPr>
              <a:t>• dbLoadProgram()    — retrieve &amp; run saved code</a:t>
            </a:r>
          </a:p>
          <a:p>
            <a:pPr algn="l"/>
            <a:r>
              <a:rPr sz="1500">
                <a:solidFill>
                  <a:srgbClr val="D1F7E0"/>
                </a:solidFill>
              </a:rPr>
              <a:t>• dbLogRun()         — auto-log every execution</a:t>
            </a:r>
          </a:p>
          <a:p>
            <a:pPr algn="l"/>
            <a:r>
              <a:rPr sz="1500">
                <a:solidFill>
                  <a:srgbClr val="D1F7E0"/>
                </a:solidFill>
              </a:rPr>
              <a:t>• dbExecuteQuery()   — arbitrary SQL console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6EF2B2"/>
                </a:solidFill>
              </a:rPr>
              <a:t>Error Handling &amp; Diagnostics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4552" cy="25400"/>
          </a:xfrm>
          <a:prstGeom prst="rect">
            <a:avLst/>
          </a:prstGeom>
          <a:solidFill>
            <a:srgbClr val="6EF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3566160" cy="4754880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7070"/>
                </a:solidFill>
              </a:rPr>
              <a:t>Lexical Errors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3291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D1F7E0"/>
                </a:solidFill>
              </a:rPr>
              <a:t>• Unknown/illegal characters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Unterminated tokens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Column-accurate position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InterpError class wraps msg + col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1188720"/>
            <a:ext cx="3657600" cy="4754880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51960" y="12801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D85E"/>
                </a:solidFill>
              </a:rPr>
              <a:t>Parse Errors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1645920"/>
            <a:ext cx="3383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D1F7E0"/>
                </a:solidFill>
              </a:rPr>
              <a:t>• Unexpected token type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Missing semicolons / parens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Error recovery: keeps parsing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Collects ALL errors, not just first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Line + column pointer in message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188720"/>
            <a:ext cx="3840480" cy="4754880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92439" y="12801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7070"/>
                </a:solidFill>
              </a:rPr>
              <a:t>Runtime Errors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39" y="1645920"/>
            <a:ext cx="3566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D1F7E0"/>
                </a:solidFill>
              </a:rPr>
              <a:t>• Division by zero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Modulo by zero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Undefined variable reference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Errors caught per-statement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Execution continues after error</a:t>
            </a:r>
          </a:p>
          <a:p>
            <a:pPr algn="l"/>
            <a:r>
              <a:rPr sz="1600">
                <a:solidFill>
                  <a:srgbClr val="D1F7E0"/>
                </a:solidFill>
              </a:rPr>
              <a:t>• All errors shown in Error panel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6EF2B2"/>
                </a:solidFill>
              </a:rPr>
              <a:t>Project File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4552" cy="25400"/>
          </a:xfrm>
          <a:prstGeom prst="rect">
            <a:avLst/>
          </a:prstGeom>
          <a:solidFill>
            <a:srgbClr val="6EF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6858000" cy="274320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8610049" cy="21698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dirty="0">
                <a:solidFill>
                  <a:srgbClr val="7AF5F5"/>
                </a:solidFill>
                <a:latin typeface="Courier New"/>
              </a:rPr>
              <a:t>Mathematical Expression Interpreter/</a:t>
            </a:r>
          </a:p>
          <a:p>
            <a:r>
              <a:rPr sz="1500" dirty="0">
                <a:solidFill>
                  <a:srgbClr val="7AF5F5"/>
                </a:solidFill>
                <a:latin typeface="Courier New"/>
              </a:rPr>
              <a:t>├── </a:t>
            </a:r>
            <a:r>
              <a:rPr sz="1500" dirty="0" err="1">
                <a:solidFill>
                  <a:srgbClr val="7AF5F5"/>
                </a:solidFill>
                <a:latin typeface="Courier New"/>
              </a:rPr>
              <a:t>index.html</a:t>
            </a:r>
            <a:endParaRPr sz="1500" dirty="0">
              <a:solidFill>
                <a:srgbClr val="7AF5F5"/>
              </a:solidFill>
              <a:latin typeface="Courier New"/>
            </a:endParaRPr>
          </a:p>
          <a:p>
            <a:r>
              <a:rPr sz="1500" dirty="0">
                <a:solidFill>
                  <a:srgbClr val="7AF5F5"/>
                </a:solidFill>
                <a:latin typeface="Courier New"/>
              </a:rPr>
              <a:t>├── </a:t>
            </a:r>
            <a:r>
              <a:rPr sz="1500" dirty="0" err="1">
                <a:solidFill>
                  <a:srgbClr val="7AF5F5"/>
                </a:solidFill>
                <a:latin typeface="Courier New"/>
              </a:rPr>
              <a:t>style.css</a:t>
            </a:r>
            <a:endParaRPr lang="en-US" sz="1500" dirty="0">
              <a:solidFill>
                <a:srgbClr val="7AF5F5"/>
              </a:solidFill>
              <a:latin typeface="Courier New"/>
            </a:endParaRPr>
          </a:p>
          <a:p>
            <a:r>
              <a:rPr lang="en-US" sz="1500" dirty="0">
                <a:solidFill>
                  <a:srgbClr val="7AF5F5"/>
                </a:solidFill>
                <a:latin typeface="Courier New"/>
              </a:rPr>
              <a:t>└── </a:t>
            </a:r>
            <a:r>
              <a:rPr lang="en-US" sz="1500" dirty="0" err="1">
                <a:solidFill>
                  <a:srgbClr val="7AF5F5"/>
                </a:solidFill>
                <a:latin typeface="Courier New"/>
              </a:rPr>
              <a:t>js</a:t>
            </a:r>
            <a:r>
              <a:rPr lang="en-US" sz="1500" dirty="0">
                <a:solidFill>
                  <a:srgbClr val="7AF5F5"/>
                </a:solidFill>
                <a:latin typeface="Courier New"/>
              </a:rPr>
              <a:t>/</a:t>
            </a:r>
          </a:p>
          <a:p>
            <a:r>
              <a:rPr sz="1500" dirty="0">
                <a:solidFill>
                  <a:srgbClr val="7AF5F5"/>
                </a:solidFill>
                <a:latin typeface="Courier New"/>
              </a:rPr>
              <a:t>    ├── </a:t>
            </a:r>
            <a:r>
              <a:rPr sz="1500" dirty="0" err="1">
                <a:solidFill>
                  <a:srgbClr val="7AF5F5"/>
                </a:solidFill>
                <a:latin typeface="Courier New"/>
              </a:rPr>
              <a:t>lexer.js</a:t>
            </a:r>
            <a:r>
              <a:rPr sz="1500" dirty="0">
                <a:solidFill>
                  <a:srgbClr val="7AF5F5"/>
                </a:solidFill>
                <a:latin typeface="Courier New"/>
              </a:rPr>
              <a:t>        # Stage 1 — Tokenizer (Lexer class)</a:t>
            </a:r>
          </a:p>
          <a:p>
            <a:r>
              <a:rPr sz="1500" dirty="0">
                <a:solidFill>
                  <a:srgbClr val="7AF5F5"/>
                </a:solidFill>
                <a:latin typeface="Courier New"/>
              </a:rPr>
              <a:t>    ├── </a:t>
            </a:r>
            <a:r>
              <a:rPr sz="1500" dirty="0" err="1">
                <a:solidFill>
                  <a:srgbClr val="7AF5F5"/>
                </a:solidFill>
                <a:latin typeface="Courier New"/>
              </a:rPr>
              <a:t>parser.js</a:t>
            </a:r>
            <a:r>
              <a:rPr sz="1500" dirty="0">
                <a:solidFill>
                  <a:srgbClr val="7AF5F5"/>
                </a:solidFill>
                <a:latin typeface="Courier New"/>
              </a:rPr>
              <a:t>       # Stage 2 — Recursive-descent parser + AST nodes</a:t>
            </a:r>
          </a:p>
          <a:p>
            <a:r>
              <a:rPr sz="1500" dirty="0">
                <a:solidFill>
                  <a:srgbClr val="7AF5F5"/>
                </a:solidFill>
                <a:latin typeface="Courier New"/>
              </a:rPr>
              <a:t>    ├── </a:t>
            </a:r>
            <a:r>
              <a:rPr sz="1500" dirty="0" err="1">
                <a:solidFill>
                  <a:srgbClr val="7AF5F5"/>
                </a:solidFill>
                <a:latin typeface="Courier New"/>
              </a:rPr>
              <a:t>evaluator.js</a:t>
            </a:r>
            <a:r>
              <a:rPr sz="1500" dirty="0">
                <a:solidFill>
                  <a:srgbClr val="7AF5F5"/>
                </a:solidFill>
                <a:latin typeface="Courier New"/>
              </a:rPr>
              <a:t>    # Stage 3 — Tree-walking evaluator + trace</a:t>
            </a:r>
          </a:p>
          <a:p>
            <a:r>
              <a:rPr sz="1500" dirty="0">
                <a:solidFill>
                  <a:srgbClr val="7AF5F5"/>
                </a:solidFill>
                <a:latin typeface="Courier New"/>
              </a:rPr>
              <a:t>    ├── </a:t>
            </a:r>
            <a:r>
              <a:rPr sz="1500" dirty="0" err="1">
                <a:solidFill>
                  <a:srgbClr val="7AF5F5"/>
                </a:solidFill>
                <a:latin typeface="Courier New"/>
              </a:rPr>
              <a:t>database.js</a:t>
            </a:r>
            <a:r>
              <a:rPr sz="1500" dirty="0">
                <a:solidFill>
                  <a:srgbClr val="7AF5F5"/>
                </a:solidFill>
                <a:latin typeface="Courier New"/>
              </a:rPr>
              <a:t>     # SQLite (</a:t>
            </a:r>
            <a:r>
              <a:rPr sz="1500" dirty="0" err="1">
                <a:solidFill>
                  <a:srgbClr val="7AF5F5"/>
                </a:solidFill>
                <a:latin typeface="Courier New"/>
              </a:rPr>
              <a:t>sql.js</a:t>
            </a:r>
            <a:r>
              <a:rPr sz="1500" dirty="0">
                <a:solidFill>
                  <a:srgbClr val="7AF5F5"/>
                </a:solidFill>
                <a:latin typeface="Courier New"/>
              </a:rPr>
              <a:t> WASM) persistence layer</a:t>
            </a:r>
          </a:p>
          <a:p>
            <a:r>
              <a:rPr sz="1500" dirty="0">
                <a:solidFill>
                  <a:srgbClr val="7AF5F5"/>
                </a:solidFill>
                <a:latin typeface="Courier New"/>
              </a:rPr>
              <a:t>    └── </a:t>
            </a:r>
            <a:r>
              <a:rPr sz="1500" dirty="0" err="1">
                <a:solidFill>
                  <a:srgbClr val="7AF5F5"/>
                </a:solidFill>
                <a:latin typeface="Courier New"/>
              </a:rPr>
              <a:t>main.js</a:t>
            </a:r>
            <a:r>
              <a:rPr sz="1500" dirty="0">
                <a:solidFill>
                  <a:srgbClr val="7AF5F5"/>
                </a:solidFill>
                <a:latin typeface="Courier New"/>
              </a:rPr>
              <a:t>         # UI orchestration, run/step modes, examples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60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EF2B2"/>
                </a:solidFill>
              </a:rPr>
              <a:t>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4160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EF2B2"/>
                </a:solidFill>
              </a:rPr>
              <a:t>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41605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EF2B2"/>
                </a:solidFill>
              </a:rPr>
              <a:t>Role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80560"/>
            <a:ext cx="9326880" cy="19050"/>
          </a:xfrm>
          <a:prstGeom prst="rect">
            <a:avLst/>
          </a:prstGeom>
          <a:solidFill>
            <a:srgbClr val="6EF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4553712"/>
            <a:ext cx="9326880" cy="310896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455371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AF5F5"/>
                </a:solidFill>
              </a:rPr>
              <a:t>index.html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455371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6677"/>
                </a:solidFill>
              </a:rPr>
              <a:t>~8.5 KB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4553712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F7E0"/>
                </a:solidFill>
              </a:rPr>
              <a:t>UI structure, pipeline display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64608"/>
            <a:ext cx="9326880" cy="31089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4864608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AF5F5"/>
                </a:solidFill>
              </a:rPr>
              <a:t>style.css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486460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6677"/>
                </a:solidFill>
              </a:rPr>
              <a:t>~16 KB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86460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F7E0"/>
                </a:solidFill>
              </a:rPr>
              <a:t>Full dark theme, SVG, responsive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175504"/>
            <a:ext cx="9326880" cy="310896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5175504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AF5F5"/>
                </a:solidFill>
              </a:rPr>
              <a:t>js/lexer.js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517550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6677"/>
                </a:solidFill>
              </a:rPr>
              <a:t>~4 KB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5175504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F7E0"/>
                </a:solidFill>
              </a:rPr>
              <a:t>Tokenizer — Stage 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486400"/>
            <a:ext cx="9326880" cy="31089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5486400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AF5F5"/>
                </a:solidFill>
              </a:rPr>
              <a:t>js/parser.js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548640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6677"/>
                </a:solidFill>
              </a:rPr>
              <a:t>~7.5 KB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48640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F7E0"/>
                </a:solidFill>
              </a:rPr>
              <a:t>AST builder — Stage 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797296"/>
            <a:ext cx="9326880" cy="310896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20" y="579729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AF5F5"/>
                </a:solidFill>
              </a:rPr>
              <a:t>js/evaluator.js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579729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6677"/>
                </a:solidFill>
              </a:rPr>
              <a:t>~5 KB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5797296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F7E0"/>
                </a:solidFill>
              </a:rPr>
              <a:t>Evaluator — Stage 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108192"/>
            <a:ext cx="9326880" cy="310896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610819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AF5F5"/>
                </a:solidFill>
              </a:rPr>
              <a:t>js/database.js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610819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6677"/>
                </a:solidFill>
              </a:rPr>
              <a:t>~5.5 KB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6108192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F7E0"/>
                </a:solidFill>
              </a:rPr>
              <a:t>SQLite WASM persistence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19088"/>
            <a:ext cx="9326880" cy="310896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2920" y="6419088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AF5F5"/>
                </a:solidFill>
              </a:rPr>
              <a:t>js/main.js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641908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6677"/>
                </a:solidFill>
              </a:rPr>
              <a:t>~15 KB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0" y="641908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F7E0"/>
                </a:solidFill>
              </a:rPr>
              <a:t>UI logic, modes, 14 examples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58689" y="2304288"/>
            <a:ext cx="272851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D1F7E0"/>
                </a:solidFill>
              </a:rPr>
              <a:t>Zero external runtime dependencies.
</a:t>
            </a:r>
            <a:r>
              <a:rPr sz="1600" b="0" i="0" dirty="0" err="1">
                <a:solidFill>
                  <a:srgbClr val="D1F7E0"/>
                </a:solidFill>
              </a:rPr>
              <a:t>sql.js</a:t>
            </a:r>
            <a:r>
              <a:rPr sz="1600" b="0" i="0" dirty="0">
                <a:solidFill>
                  <a:srgbClr val="D1F7E0"/>
                </a:solidFill>
              </a:rPr>
              <a:t> is the only CDN dependency
(loaded on page start).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EF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6EF2B2"/>
                </a:solidFill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1274552" cy="25400"/>
          </a:xfrm>
          <a:prstGeom prst="rect">
            <a:avLst/>
          </a:prstGeom>
          <a:solidFill>
            <a:srgbClr val="6EF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486400" cy="1188720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91440" cy="1188720"/>
          </a:xfrm>
          <a:prstGeom prst="rect">
            <a:avLst/>
          </a:prstGeom>
          <a:solidFill>
            <a:srgbClr val="6EF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6EF2B2"/>
                </a:solidFill>
              </a:rPr>
              <a:t>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1F7E0"/>
                </a:solidFill>
              </a:rPr>
              <a:t>Three-stage compilation: Lex → Parse → Evaluate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234440"/>
            <a:ext cx="5486400" cy="1188720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09360" y="1234440"/>
            <a:ext cx="91440" cy="1188720"/>
          </a:xfrm>
          <a:prstGeom prst="rect">
            <a:avLst/>
          </a:prstGeom>
          <a:solidFill>
            <a:srgbClr val="F5D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1325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D85E"/>
                </a:solidFill>
              </a:rPr>
              <a:t>Education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70992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1F7E0"/>
                </a:solidFill>
              </a:rPr>
              <a:t>Step-mode, trace log, and AST viewer aid learning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06040"/>
            <a:ext cx="5486400" cy="1188720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91440" cy="1188720"/>
          </a:xfrm>
          <a:prstGeom prst="rect">
            <a:avLst/>
          </a:prstGeom>
          <a:solidFill>
            <a:srgbClr val="7A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2697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7AF5F5"/>
                </a:solidFill>
              </a:rPr>
              <a:t>Persistence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08152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1F7E0"/>
                </a:solidFill>
              </a:rPr>
              <a:t>In-browser SQLite stores programs &amp; run history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606040"/>
            <a:ext cx="5486400" cy="1188720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2606040"/>
            <a:ext cx="91440" cy="118872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7070"/>
                </a:solidFill>
              </a:rPr>
              <a:t>Diagnostics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08152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1F7E0"/>
                </a:solidFill>
              </a:rPr>
              <a:t>Multi-error recovery across all three stages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977640"/>
            <a:ext cx="5486400" cy="1188720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3977640"/>
            <a:ext cx="91440" cy="1188720"/>
          </a:xfrm>
          <a:prstGeom prst="rect">
            <a:avLst/>
          </a:prstGeom>
          <a:solidFill>
            <a:srgbClr val="D1F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4069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1F7E0"/>
                </a:solidFill>
              </a:rPr>
              <a:t>Zero Setup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45312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1F7E0"/>
                </a:solidFill>
              </a:rPr>
              <a:t>Runs entirely in the browser — open and go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3977640"/>
            <a:ext cx="5486400" cy="1188720"/>
          </a:xfrm>
          <a:prstGeom prst="rect">
            <a:avLst/>
          </a:prstGeom>
          <a:solidFill>
            <a:srgbClr val="12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309360" y="3977640"/>
            <a:ext cx="9144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069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Extensible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45312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1F7E0"/>
                </a:solidFill>
              </a:rPr>
              <a:t>Clean class-based design, easy to add new features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12648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1">
                <a:solidFill>
                  <a:srgbClr val="6EF2B2"/>
                </a:solidFill>
              </a:rPr>
              <a:t>Mathematical Expression Interpreter — a complete, self-contained educational compiler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1795</Words>
  <Application>Microsoft Macintosh PowerPoint</Application>
  <PresentationFormat>Custom</PresentationFormat>
  <Paragraphs>275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Maher .</cp:lastModifiedBy>
  <cp:revision>2</cp:revision>
  <dcterms:created xsi:type="dcterms:W3CDTF">2013-01-27T09:14:16Z</dcterms:created>
  <dcterms:modified xsi:type="dcterms:W3CDTF">2026-04-30T13:22:20Z</dcterms:modified>
  <cp:category/>
</cp:coreProperties>
</file>